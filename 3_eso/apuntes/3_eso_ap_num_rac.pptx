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618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2DCCD-0FD9-5F77-8E8A-0D153206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1500F-E119-5BD3-D905-97F93A56A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60CAE-ED0B-6985-2323-39A1F84B9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95A5B-42CF-8C59-3EB9-E3B1344C21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12" Type="http://schemas.openxmlformats.org/officeDocument/2006/relationships/image" Target="../media/image50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11" Type="http://schemas.openxmlformats.org/officeDocument/2006/relationships/image" Target="../media/image66.png"/><Relationship Id="rId5" Type="http://schemas.openxmlformats.org/officeDocument/2006/relationships/image" Target="../media/image63.png"/><Relationship Id="rId10" Type="http://schemas.openxmlformats.org/officeDocument/2006/relationships/image" Target="../media/image400.png"/><Relationship Id="rId4" Type="http://schemas.openxmlformats.org/officeDocument/2006/relationships/image" Target="../media/image110.png"/><Relationship Id="rId9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F5C42A">
              <a:alpha val="12000"/>
            </a:srgbClr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60A5FA">
              <a:alpha val="12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3200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5C42A"/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</a:rPr>
              <a:t>UD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32004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783080" y="320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3º ESO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NÚMEROS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RACIONALES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</a:rPr>
              <a:t>Fracciones, decimales y todo lo que necesitas dominar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60A5FA">
              <a:alpha val="25000"/>
            </a:srgbClr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Fracciones equivalentes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33472" y="39776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4ADE80">
              <a:alpha val="25000"/>
            </a:srgbClr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633472" y="39776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Operaciones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9744" y="39776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809744" y="39776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Tipos de decimales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86016" y="3977640"/>
            <a:ext cx="1993392" cy="502920"/>
          </a:xfrm>
          <a:prstGeom prst="roundRect">
            <a:avLst>
              <a:gd name="adj" fmla="val 18182"/>
            </a:avLst>
          </a:prstGeom>
          <a:solidFill>
            <a:srgbClr val="A78BFA">
              <a:alpha val="25000"/>
            </a:srgbClr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986016" y="39776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Fracción generatriz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</a:rPr>
              <a:t>aprendemates.kesug.com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81945" y="1092708"/>
            <a:ext cx="1208076" cy="54864"/>
          </a:xfrm>
          <a:prstGeom prst="rect">
            <a:avLst/>
          </a:prstGeom>
          <a:solidFill>
            <a:srgbClr val="F5C42A"/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132320" y="378241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7132320" y="1202069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172B"/>
                </a:solidFill>
              </a:rPr>
              <a:t>CURIOSIDAD HISTÓRICA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Hace 4000 años…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5120640" cy="205740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502920" y="1691640"/>
                <a:ext cx="4846320" cy="1828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spcAft>
                    <a:spcPts val="300"/>
                  </a:spcAft>
                </a:pPr>
                <a:r>
                  <a:rPr lang="en-US" sz="1400" b="1" dirty="0">
                    <a:solidFill>
                      <a:srgbClr val="F5C42A"/>
                    </a:solidFill>
                  </a:rPr>
                  <a:t>Un sacerdote egipcio llamado Ahmes
</a:t>
                </a:r>
                <a:r>
                  <a:rPr lang="en-US" sz="1300" dirty="0">
                    <a:solidFill>
                      <a:srgbClr val="FFFFFF"/>
                    </a:solidFill>
                  </a:rPr>
                  <a:t>escribió un papiro en 1900 a.C. con
operaciones usando fracciones.
</a:t>
                </a:r>
                <a:r>
                  <a:rPr lang="en-US" sz="1300" b="1" dirty="0">
                    <a:solidFill>
                      <a:srgbClr val="F59E0B"/>
                    </a:solidFill>
                  </a:rPr>
                  <a:t>¡Solo usaban fracciones con numerador 1!
</a:t>
                </a:r>
                <a:r>
                  <a:rPr lang="en-US" sz="1200" i="1" dirty="0">
                    <a:solidFill>
                      <a:srgbClr val="94A3B8"/>
                    </a:solidFill>
                  </a:rPr>
                  <a:t>Para escribir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2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1200" i="1" dirty="0">
                    <a:solidFill>
                      <a:srgbClr val="94A3B8"/>
                    </a:solidFill>
                  </a:rPr>
                  <a:t> tenían que poner:</a:t>
                </a:r>
                <a:r>
                  <a:rPr lang="en-US" sz="1100" dirty="0">
                    <a:solidFill>
                      <a:srgbClr val="94A3B8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00" i="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00" i="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100" dirty="0">
                    <a:solidFill>
                      <a:srgbClr val="94A3B8"/>
                    </a:solidFill>
                    <a:latin typeface="Cambria Math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00" i="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00" i="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nor/>
                      </m:rPr>
                      <a:rPr lang="en-US" sz="1100" dirty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11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00" i="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00" b="0" i="0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s-ES" sz="1100" i="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US" sz="1100" dirty="0">
                  <a:solidFill>
                    <a:srgbClr val="94A3B8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691640"/>
                <a:ext cx="4846320" cy="1828800"/>
              </a:xfrm>
              <a:prstGeom prst="rect">
                <a:avLst/>
              </a:prstGeom>
              <a:blipFill>
                <a:blip r:embed="rId3"/>
                <a:stretch>
                  <a:fillRect l="-2264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5715000" y="1572768"/>
            <a:ext cx="3154680" cy="658368"/>
          </a:xfrm>
          <a:prstGeom prst="rect">
            <a:avLst/>
          </a:prstGeom>
          <a:solidFill>
            <a:srgbClr val="232B4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806440" y="1609344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🏺  Los egipcios usaban base 60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como nosotros los minutos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15000" y="2322576"/>
            <a:ext cx="3154680" cy="658368"/>
          </a:xfrm>
          <a:prstGeom prst="rect">
            <a:avLst/>
          </a:prstGeom>
          <a:solidFill>
            <a:srgbClr val="232B4A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806440" y="235915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🍕  Repartir comida fue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la razón de su origen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15000" y="3072384"/>
            <a:ext cx="3154680" cy="658368"/>
          </a:xfrm>
          <a:prstGeom prst="rect">
            <a:avLst/>
          </a:prstGeom>
          <a:solidFill>
            <a:srgbClr val="232B4A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806440" y="3108960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⏰  1 hora = 60 min porque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los babilonios usaban /60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solidFill>
            <a:srgbClr val="F5C42A">
              <a:alpha val="80000"/>
            </a:srgbClr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72B"/>
                </a:solidFill>
              </a:rPr>
              <a:t>  ¿Y tú cuándo usas fracciones sin darte cuenta?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¿Para qué sirven las fracciones?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En tu vida cotidiana las usas más de lo que crees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572768"/>
          </a:xfrm>
          <a:prstGeom prst="rect">
            <a:avLst/>
          </a:prstGeom>
          <a:solidFill>
            <a:srgbClr val="232B4A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29191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2688" y="13441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Recetas de cocina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4650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Una receta para 6 personas.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¿Cuánto necesito para 2?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457200" y="2377440"/>
                <a:ext cx="246888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100" b="1" i="1" dirty="0">
                    <a:solidFill>
                      <a:srgbClr val="EF4444"/>
                    </a:solidFill>
                  </a:rPr>
                  <a:t>→ </a:t>
                </a:r>
                <a:r>
                  <a:rPr lang="en-US" sz="1100" b="1" i="1" dirty="0" err="1">
                    <a:solidFill>
                      <a:srgbClr val="EF4444"/>
                    </a:solidFill>
                  </a:rPr>
                  <a:t>Tomo</a:t>
                </a:r>
                <a:r>
                  <a:rPr lang="en-US" sz="1100" b="1" i="1" dirty="0">
                    <a:solidFill>
                      <a:srgbClr val="EF4444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00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00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100" b="1" i="1" dirty="0">
                    <a:solidFill>
                      <a:srgbClr val="EF4444"/>
                    </a:solidFill>
                  </a:rPr>
                  <a:t>  de cada ingrediente</a:t>
                </a:r>
                <a:endParaRPr lang="en-US" sz="1100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377440"/>
                <a:ext cx="2468880" cy="320040"/>
              </a:xfrm>
              <a:prstGeom prst="rect">
                <a:avLst/>
              </a:prstGeom>
              <a:blipFill>
                <a:blip r:embed="rId3"/>
                <a:stretch>
                  <a:fillRect l="-3457" b="-1887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3200400" y="1234440"/>
            <a:ext cx="2651760" cy="1572768"/>
          </a:xfrm>
          <a:prstGeom prst="rect">
            <a:avLst/>
          </a:prstGeom>
          <a:solidFill>
            <a:srgbClr val="232B4A"/>
          </a:solidFill>
          <a:ln w="254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9184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67328" y="13441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Música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3291840" y="1746504"/>
                <a:ext cx="24688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94A3B8"/>
                    </a:solidFill>
                  </a:rPr>
                  <a:t>Corchea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94A3B8"/>
                    </a:solidFill>
                  </a:rPr>
                  <a:t>  de compás</a:t>
                </a:r>
                <a:endParaRPr lang="en-US" sz="1150" dirty="0"/>
              </a:p>
              <a:p>
                <a:r>
                  <a:rPr lang="en-US" sz="1150" dirty="0">
                    <a:solidFill>
                      <a:srgbClr val="94A3B8"/>
                    </a:solidFill>
                  </a:rPr>
                  <a:t>Negra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94A3B8"/>
                    </a:solidFill>
                  </a:rPr>
                  <a:t>  de compás</a:t>
                </a:r>
                <a:endParaRPr lang="en-US" sz="115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0" y="1746504"/>
                <a:ext cx="2468880" cy="566928"/>
              </a:xfrm>
              <a:prstGeom prst="rect">
                <a:avLst/>
              </a:prstGeom>
              <a:blipFill>
                <a:blip r:embed="rId4"/>
                <a:stretch>
                  <a:fillRect l="-3704" b="-2151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329184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A78BFA"/>
                </a:solidFill>
              </a:rPr>
              <a:t>→ Las notas son fracciones de tiempo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1572768"/>
          </a:xfrm>
          <a:prstGeom prst="rect">
            <a:avLst/>
          </a:prstGeom>
          <a:solidFill>
            <a:srgbClr val="232B4A"/>
          </a:solidFill>
          <a:ln w="254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126480" y="1271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⚽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01968" y="13441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Deporte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6126480" y="1746504"/>
                <a:ext cx="24688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150" dirty="0">
                    <a:solidFill>
                      <a:srgbClr val="94A3B8"/>
                    </a:solidFill>
                  </a:rPr>
                  <a:t>Un </a:t>
                </a:r>
                <a:r>
                  <a:rPr lang="en-US" sz="1150" dirty="0" err="1">
                    <a:solidFill>
                      <a:srgbClr val="94A3B8"/>
                    </a:solidFill>
                  </a:rPr>
                  <a:t>jugador</a:t>
                </a:r>
                <a:r>
                  <a:rPr lang="en-US" sz="1150" dirty="0">
                    <a:solidFill>
                      <a:srgbClr val="94A3B8"/>
                    </a:solidFill>
                  </a:rPr>
                  <a:t> </a:t>
                </a:r>
                <a:r>
                  <a:rPr lang="en-US" sz="1150" dirty="0" err="1">
                    <a:solidFill>
                      <a:srgbClr val="94A3B8"/>
                    </a:solidFill>
                  </a:rPr>
                  <a:t>ganó</a:t>
                </a:r>
                <a:r>
                  <a:rPr lang="en-US" sz="1150" dirty="0">
                    <a:solidFill>
                      <a:srgbClr val="94A3B8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94A3B8"/>
                    </a:solidFill>
                  </a:rPr>
                  <a:t>  de</a:t>
                </a:r>
                <a:endParaRPr lang="en-US" sz="1150" dirty="0"/>
              </a:p>
              <a:p>
                <a:pPr marL="0" indent="0">
                  <a:buNone/>
                </a:pPr>
                <a:r>
                  <a:rPr lang="en-US" sz="1150" dirty="0">
                    <a:solidFill>
                      <a:srgbClr val="94A3B8"/>
                    </a:solidFill>
                  </a:rPr>
                  <a:t>sus partidos esta temporada</a:t>
                </a:r>
                <a:endParaRPr lang="en-US" sz="115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1746504"/>
                <a:ext cx="2468880" cy="566928"/>
              </a:xfrm>
              <a:prstGeom prst="rect">
                <a:avLst/>
              </a:prstGeom>
              <a:blipFill>
                <a:blip r:embed="rId5"/>
                <a:stretch>
                  <a:fillRect l="-3704" b="-2151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612648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ADE80"/>
                </a:solidFill>
              </a:rPr>
              <a:t>→ Estadísticas deportivas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51760" cy="1572768"/>
          </a:xfrm>
          <a:prstGeom prst="rect">
            <a:avLst/>
          </a:prstGeom>
          <a:solidFill>
            <a:srgbClr val="232B4A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300968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32688" y="30815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Rebajas y descuentos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457200" y="3483864"/>
                <a:ext cx="24688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94A3B8"/>
                    </a:solidFill>
                  </a:rPr>
                  <a:t>30% de descuento =</a:t>
                </a:r>
                <a:endParaRPr lang="en-US" sz="1150" dirty="0"/>
              </a:p>
              <a:p>
                <a:r>
                  <a:rPr lang="en-US" sz="1150" dirty="0">
                    <a:solidFill>
                      <a:srgbClr val="94A3B8"/>
                    </a:solidFill>
                  </a:rPr>
                  <a:t> multiplicar </a:t>
                </a:r>
                <a:r>
                  <a:rPr lang="en-US" sz="1150" dirty="0" err="1">
                    <a:solidFill>
                      <a:srgbClr val="94A3B8"/>
                    </a:solidFill>
                  </a:rPr>
                  <a:t>por</a:t>
                </a:r>
                <a:r>
                  <a:rPr lang="en-US" sz="1150" dirty="0">
                    <a:solidFill>
                      <a:srgbClr val="94A3B8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94A3B8"/>
                    </a:solidFill>
                  </a:rPr>
                  <a:t> </a:t>
                </a:r>
                <a:endParaRPr lang="en-US" sz="1150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83864"/>
                <a:ext cx="2468880" cy="566928"/>
              </a:xfrm>
              <a:prstGeom prst="rect">
                <a:avLst/>
              </a:prstGeom>
              <a:blipFill>
                <a:blip r:embed="rId6"/>
                <a:stretch>
                  <a:fillRect l="-3704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21"/>
          <p:cNvSpPr/>
          <p:nvPr/>
        </p:nvSpPr>
        <p:spPr>
          <a:xfrm>
            <a:off x="45720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9E0B"/>
                </a:solidFill>
              </a:rPr>
              <a:t>→ Porcentajes son fracciones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0108" y="2971800"/>
            <a:ext cx="2651760" cy="1572768"/>
          </a:xfrm>
          <a:prstGeom prst="rect">
            <a:avLst/>
          </a:prstGeom>
          <a:solidFill>
            <a:srgbClr val="232B4A"/>
          </a:solidFill>
          <a:ln w="254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291840" y="29672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767328" y="30815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Videojuegos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3291840" y="3483864"/>
                <a:ext cx="24688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94A3B8"/>
                    </a:solidFill>
                  </a:rPr>
                  <a:t>  de </a:t>
                </a:r>
                <a:r>
                  <a:rPr lang="en-US" sz="1150" dirty="0" err="1">
                    <a:solidFill>
                      <a:srgbClr val="94A3B8"/>
                    </a:solidFill>
                  </a:rPr>
                  <a:t>vida</a:t>
                </a:r>
                <a:endParaRPr lang="en-US" sz="1150" dirty="0"/>
              </a:p>
              <a:p>
                <a:r>
                  <a:rPr lang="en-US" sz="1150" dirty="0">
                    <a:solidFill>
                      <a:srgbClr val="94A3B8"/>
                    </a:solidFill>
                  </a:rPr>
                  <a:t>Velocidad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94A3B8"/>
                    </a:solidFill>
                  </a:rPr>
                  <a:t> </a:t>
                </a:r>
                <a:endParaRPr lang="en-US" sz="1150" dirty="0"/>
              </a:p>
            </p:txBody>
          </p:sp>
        </mc:Choice>
        <mc:Fallback xmlns=""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0" y="3483864"/>
                <a:ext cx="2468880" cy="566928"/>
              </a:xfrm>
              <a:prstGeom prst="rect">
                <a:avLst/>
              </a:prstGeom>
              <a:blipFill>
                <a:blip r:embed="rId7"/>
                <a:stretch>
                  <a:fillRect l="-3704" b="-2151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329184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0A5FA"/>
                </a:solidFill>
              </a:rPr>
              <a:t>→ Estadísticas del juego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51760" cy="1572768"/>
          </a:xfrm>
          <a:prstGeom prst="rect">
            <a:avLst/>
          </a:prstGeom>
          <a:solidFill>
            <a:srgbClr val="232B4A"/>
          </a:solidFill>
          <a:ln w="25400">
            <a:solidFill>
              <a:srgbClr val="2DD4B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135624" y="300968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601968" y="308152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TikTok o Instagram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30"/>
              <p:cNvSpPr/>
              <p:nvPr/>
            </p:nvSpPr>
            <p:spPr>
              <a:xfrm>
                <a:off x="6126480" y="3483864"/>
                <a:ext cx="246888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150" dirty="0">
                    <a:solidFill>
                      <a:srgbClr val="94A3B8"/>
                    </a:solidFill>
                  </a:rPr>
                  <a:t>Algoritmo: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5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94A3B8"/>
                    </a:solidFill>
                  </a:rPr>
                  <a:t>  de</a:t>
                </a:r>
                <a:endParaRPr lang="en-US" sz="1150" dirty="0"/>
              </a:p>
              <a:p>
                <a:pPr marL="0" indent="0">
                  <a:buNone/>
                </a:pPr>
                <a:r>
                  <a:rPr lang="en-US" sz="1150" dirty="0">
                    <a:solidFill>
                      <a:srgbClr val="94A3B8"/>
                    </a:solidFill>
                  </a:rPr>
                  <a:t>tus seguidores ve el vídeo</a:t>
                </a:r>
                <a:endParaRPr lang="en-US" sz="1150" dirty="0"/>
              </a:p>
            </p:txBody>
          </p:sp>
        </mc:Choice>
        <mc:Fallback xmlns="">
          <p:sp>
            <p:nvSpPr>
              <p:cNvPr id="32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3483864"/>
                <a:ext cx="2468880" cy="566928"/>
              </a:xfrm>
              <a:prstGeom prst="rect">
                <a:avLst/>
              </a:prstGeom>
              <a:blipFill>
                <a:blip r:embed="rId8"/>
                <a:stretch>
                  <a:fillRect l="-3704" b="-2151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31"/>
          <p:cNvSpPr/>
          <p:nvPr/>
        </p:nvSpPr>
        <p:spPr>
          <a:xfrm>
            <a:off x="612648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DD4BF"/>
                </a:solidFill>
              </a:rPr>
              <a:t>→ Tasas de alcance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un número racional?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1051560"/>
          </a:xfrm>
          <a:prstGeom prst="rect">
            <a:avLst/>
          </a:prstGeom>
          <a:solidFill>
            <a:srgbClr val="232B4A"/>
          </a:solidFill>
          <a:ln w="3175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548640" y="914400"/>
                <a:ext cx="8046720" cy="10515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200" dirty="0">
                    <a:solidFill>
                      <a:srgbClr val="94A3B8"/>
                    </a:solidFill>
                  </a:rPr>
                  <a:t>ℚ = {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F5C42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1" dirty="0">
                            <a:solidFill>
                              <a:srgbClr val="F5C42A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s-ES" sz="2800" b="1" dirty="0">
                            <a:solidFill>
                              <a:srgbClr val="F5C42A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5C42A"/>
                    </a:solidFill>
                  </a:rPr>
                  <a:t> </a:t>
                </a:r>
                <a:r>
                  <a:rPr lang="en-US" sz="2200" dirty="0">
                    <a:solidFill>
                      <a:srgbClr val="94A3B8"/>
                    </a:solidFill>
                  </a:rPr>
                  <a:t>|  p, q ∈ ℤ,  q ≠ 0 }</a:t>
                </a:r>
                <a:endParaRPr lang="en-US" sz="220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914400"/>
                <a:ext cx="8046720" cy="1051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365760" y="2148840"/>
            <a:ext cx="2670048" cy="2514600"/>
          </a:xfrm>
          <a:prstGeom prst="rect">
            <a:avLst/>
          </a:prstGeom>
          <a:solidFill>
            <a:srgbClr val="1C2340"/>
          </a:solidFill>
          <a:ln w="254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70048" cy="43891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72B"/>
                </a:solidFill>
              </a:rPr>
              <a:t>  1. Como PARTE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67919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El denominador divide la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unidad en partes iguales.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El numerador dice cuántas tomamos.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2395728" cy="457200"/>
          </a:xfrm>
          <a:prstGeom prst="rect">
            <a:avLst/>
          </a:prstGeom>
          <a:solidFill>
            <a:srgbClr val="60A5FA">
              <a:alpha val="18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502920" y="3931920"/>
                <a:ext cx="2395728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125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2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250" b="1" dirty="0">
                    <a:solidFill>
                      <a:srgbClr val="FFFFFF"/>
                    </a:solidFill>
                  </a:rPr>
                  <a:t> = 3 partes de 4</a:t>
                </a:r>
                <a:endParaRPr lang="en-US" sz="125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931920"/>
                <a:ext cx="2395728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3218688" y="2148840"/>
            <a:ext cx="2670048" cy="2514600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18688" y="2148840"/>
            <a:ext cx="2670048" cy="43891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10128" y="21488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72B"/>
                </a:solidFill>
              </a:rPr>
              <a:t>  2. Como COCIENTE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55848" y="267919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Se divide el numerador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entre el denominador.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55848" y="3931920"/>
            <a:ext cx="2395728" cy="457200"/>
          </a:xfrm>
          <a:prstGeom prst="rect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3355848" y="3931920"/>
                <a:ext cx="2395728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125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2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250" b="1" dirty="0">
                    <a:solidFill>
                      <a:srgbClr val="FFFFFF"/>
                    </a:solidFill>
                  </a:rPr>
                  <a:t> = 3 ÷ 4 = 0,75</a:t>
                </a:r>
                <a:endParaRPr lang="en-US" sz="125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848" y="3931920"/>
                <a:ext cx="2395728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6071616" y="2148840"/>
            <a:ext cx="2670048" cy="251460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071616" y="2148840"/>
            <a:ext cx="267004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163056" y="21488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72B"/>
                </a:solidFill>
              </a:rPr>
              <a:t>  3. Como OPERADOR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08776" y="2679192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Transforma una cantidad.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Se divide y se multiplica.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08776" y="3931920"/>
            <a:ext cx="2395728" cy="45720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6208776" y="3931920"/>
                <a:ext cx="2395728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125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25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250" b="1" dirty="0">
                    <a:solidFill>
                      <a:srgbClr val="FFFFFF"/>
                    </a:solidFill>
                  </a:rPr>
                  <a:t> de 20 = (20÷4)×3 = 15</a:t>
                </a:r>
                <a:endParaRPr lang="en-US" sz="1250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776" y="3931920"/>
                <a:ext cx="2395728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familia de los números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</a:rPr>
              <a:t>Los racionales Q incluyen a todos los demás conjuntos que ya conoces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303520" cy="3520440"/>
          </a:xfrm>
          <a:prstGeom prst="ellipse">
            <a:avLst/>
          </a:prstGeom>
          <a:solidFill>
            <a:srgbClr val="A78BFA">
              <a:alpha val="15000"/>
            </a:srgbClr>
          </a:solidFill>
          <a:ln w="317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606040" y="1186761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ℚ  Racionales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1600200"/>
            <a:ext cx="3931920" cy="2606040"/>
          </a:xfrm>
          <a:prstGeom prst="ellipse">
            <a:avLst/>
          </a:prstGeom>
          <a:solidFill>
            <a:srgbClr val="60A5FA">
              <a:alpha val="15000"/>
            </a:srgbClr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66060" y="16504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ℤ  Enteros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2057400"/>
            <a:ext cx="2560320" cy="1691640"/>
          </a:xfrm>
          <a:prstGeom prst="ellipse">
            <a:avLst/>
          </a:prstGeom>
          <a:solidFill>
            <a:srgbClr val="4ADE80">
              <a:alpha val="18000"/>
            </a:srgbClr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43200" y="2219053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ℕ  Naturales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7614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DE80"/>
                </a:solidFill>
              </a:rPr>
              <a:t>1  2  3  20  104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35331" y="3770267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0A5FA"/>
                </a:solidFill>
              </a:rPr>
              <a:t>−7  −84  −589</a:t>
            </a:r>
            <a:endParaRPr lang="en-US" sz="11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2504803" y="4251960"/>
                <a:ext cx="1391194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150" dirty="0">
                    <a:solidFill>
                      <a:srgbClr val="A78BFA"/>
                    </a:solidFill>
                  </a:rPr>
                  <a:t>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dirty="0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150" dirty="0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A78BFA"/>
                    </a:solidFill>
                  </a:rPr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50" i="1" dirty="0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50" dirty="0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ES" sz="1150" dirty="0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1150" dirty="0">
                    <a:solidFill>
                      <a:srgbClr val="A78BFA"/>
                    </a:solidFill>
                  </a:rPr>
                  <a:t>   1´6   57´4</a:t>
                </a:r>
                <a:endParaRPr lang="en-US" sz="115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803" y="4251960"/>
                <a:ext cx="1391194" cy="347472"/>
              </a:xfrm>
              <a:prstGeom prst="rect">
                <a:avLst/>
              </a:prstGeom>
              <a:blipFill>
                <a:blip r:embed="rId3"/>
                <a:stretch>
                  <a:fillRect l="-6579" b="-1754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6126480" y="1188720"/>
            <a:ext cx="2743200" cy="749808"/>
          </a:xfrm>
          <a:prstGeom prst="rect">
            <a:avLst/>
          </a:prstGeom>
          <a:solidFill>
            <a:srgbClr val="232B4A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236208" y="124358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✅ Todo entero es racional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6236208" y="1591056"/>
                <a:ext cx="252374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4ADE80"/>
                    </a:solidFill>
                  </a:rPr>
                  <a:t>5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ES" sz="1200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sz="1200" i="1" dirty="0">
                  <a:solidFill>
                    <a:srgbClr val="4ADE80"/>
                  </a:solidFill>
                </a:endParaRPr>
              </a:p>
            </p:txBody>
          </p:sp>
        </mc:Choice>
        <mc:Fallback xmlns=""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208" y="1591056"/>
                <a:ext cx="2523744" cy="256032"/>
              </a:xfrm>
              <a:prstGeom prst="rect">
                <a:avLst/>
              </a:prstGeom>
              <a:blipFill>
                <a:blip r:embed="rId4"/>
                <a:stretch>
                  <a:fillRect l="-3623" t="-2381" b="-2381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6126480" y="2103120"/>
            <a:ext cx="2743200" cy="749808"/>
          </a:xfrm>
          <a:prstGeom prst="rect">
            <a:avLst/>
          </a:prstGeom>
          <a:solidFill>
            <a:srgbClr val="232B4A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36208" y="215798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✅ Fracciones p/q con q≠0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6236208" y="2505456"/>
                <a:ext cx="252374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200" i="1" dirty="0">
                    <a:solidFill>
                      <a:srgbClr val="60A5FA"/>
                    </a:solidFill>
                  </a:rPr>
                  <a:t> ,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1200" i="1" dirty="0">
                    <a:solidFill>
                      <a:srgbClr val="60A5FA"/>
                    </a:solidFill>
                  </a:rPr>
                  <a:t>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s-ES" sz="1200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s-ES" sz="1200" i="1" dirty="0">
                        <a:solidFill>
                          <a:srgbClr val="60A5F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i="1" dirty="0">
                    <a:solidFill>
                      <a:srgbClr val="60A5FA"/>
                    </a:solidFill>
                  </a:rPr>
                  <a:t> …</a:t>
                </a:r>
                <a:endParaRPr lang="en-US" sz="1200" dirty="0"/>
              </a:p>
            </p:txBody>
          </p:sp>
        </mc:Choice>
        <mc:Fallback xmlns=""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208" y="2505456"/>
                <a:ext cx="2523744" cy="256032"/>
              </a:xfrm>
              <a:prstGeom prst="rect">
                <a:avLst/>
              </a:prstGeom>
              <a:blipFill>
                <a:blip r:embed="rId5"/>
                <a:stretch>
                  <a:fillRect l="-1449" t="-2381" b="-2381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7"/>
          <p:cNvSpPr/>
          <p:nvPr/>
        </p:nvSpPr>
        <p:spPr>
          <a:xfrm>
            <a:off x="6126480" y="3017520"/>
            <a:ext cx="2743200" cy="749808"/>
          </a:xfrm>
          <a:prstGeom prst="rect">
            <a:avLst/>
          </a:prstGeom>
          <a:solidFill>
            <a:srgbClr val="232B4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236208" y="307238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✅ Decimales exactos y periódicos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6236208" y="3419856"/>
                <a:ext cx="252374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F59E0B"/>
                    </a:solidFill>
                  </a:rPr>
                  <a:t>0,75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200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200" i="1" dirty="0">
                    <a:solidFill>
                      <a:srgbClr val="F59E0B"/>
                    </a:solidFill>
                  </a:rPr>
                  <a:t>    0´333…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200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1200" i="1" dirty="0">
                  <a:solidFill>
                    <a:srgbClr val="F59E0B"/>
                  </a:solidFill>
                </a:endParaRPr>
              </a:p>
            </p:txBody>
          </p:sp>
        </mc:Choice>
        <mc:Fallback xmlns=""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208" y="3419856"/>
                <a:ext cx="2523744" cy="256032"/>
              </a:xfrm>
              <a:prstGeom prst="rect">
                <a:avLst/>
              </a:prstGeom>
              <a:blipFill>
                <a:blip r:embed="rId6"/>
                <a:stretch>
                  <a:fillRect l="-3623" t="-2381" b="-2381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6126480" y="3931920"/>
            <a:ext cx="2743200" cy="749808"/>
          </a:xfrm>
          <a:prstGeom prst="rect">
            <a:avLst/>
          </a:prstGeom>
          <a:solidFill>
            <a:srgbClr val="232B4A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21"/>
              <p:cNvSpPr/>
              <p:nvPr/>
            </p:nvSpPr>
            <p:spPr>
              <a:xfrm>
                <a:off x="6236208" y="3986784"/>
                <a:ext cx="2523744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50" b="1" dirty="0">
                    <a:solidFill>
                      <a:srgbClr val="FFFFFF"/>
                    </a:solidFill>
                  </a:rPr>
                  <a:t>❌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5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sz="125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sz="1250" b="1" dirty="0">
                    <a:solidFill>
                      <a:srgbClr val="FFFFFF"/>
                    </a:solidFill>
                  </a:rPr>
                  <a:t> o π NO son racionales</a:t>
                </a:r>
                <a:endParaRPr lang="en-US" sz="1250" dirty="0"/>
              </a:p>
            </p:txBody>
          </p:sp>
        </mc:Choice>
        <mc:Fallback xmlns="">
          <p:sp>
            <p:nvSpPr>
              <p:cNvPr id="23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208" y="3986784"/>
                <a:ext cx="2523744" cy="320040"/>
              </a:xfrm>
              <a:prstGeom prst="rect">
                <a:avLst/>
              </a:prstGeom>
              <a:blipFill>
                <a:blip r:embed="rId7"/>
                <a:stretch>
                  <a:fillRect l="-3865" b="-13208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22"/>
          <p:cNvSpPr/>
          <p:nvPr/>
        </p:nvSpPr>
        <p:spPr>
          <a:xfrm>
            <a:off x="6236208" y="433425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</a:rPr>
              <a:t>(Son irracionales: cifras sin patrón)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Fracciones equivalentes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530352"/>
          </a:xfrm>
          <a:prstGeom prst="rect">
            <a:avLst/>
          </a:prstGeom>
          <a:solidFill>
            <a:srgbClr val="232B4A"/>
          </a:solidFill>
          <a:ln w="254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Dos fracciones son equivalentes cuando expresan la misma parte de la unidad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365760" y="1572768"/>
                <a:ext cx="59436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800" b="1" dirty="0">
                    <a:solidFill>
                      <a:srgbClr val="4ADE8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dirty="0">
                  <a:solidFill>
                    <a:srgbClr val="4ADE80"/>
                  </a:solidFill>
                </a:endParaRPr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572768"/>
                <a:ext cx="594360" cy="347472"/>
              </a:xfrm>
              <a:prstGeom prst="rect">
                <a:avLst/>
              </a:prstGeom>
              <a:blipFill>
                <a:blip r:embed="rId3"/>
                <a:stretch>
                  <a:fillRect t="-10526" b="-31579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1005840" y="1645920"/>
            <a:ext cx="3611880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3675888" cy="256032"/>
          </a:xfrm>
          <a:prstGeom prst="rect">
            <a:avLst/>
          </a:prstGeom>
          <a:solidFill>
            <a:srgbClr val="1C234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365760" y="2057400"/>
                <a:ext cx="59436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dirty="0">
                    <a:solidFill>
                      <a:srgbClr val="94A3B8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b="1" dirty="0">
                  <a:solidFill>
                    <a:srgbClr val="60A5FA"/>
                  </a:solidFill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057400"/>
                <a:ext cx="594360" cy="347472"/>
              </a:xfrm>
              <a:prstGeom prst="rect">
                <a:avLst/>
              </a:prstGeom>
              <a:blipFill>
                <a:blip r:embed="rId4"/>
                <a:stretch>
                  <a:fillRect t="-12281" b="-31579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1005840" y="2130552"/>
            <a:ext cx="1783080" cy="256032"/>
          </a:xfrm>
          <a:prstGeom prst="rect">
            <a:avLst/>
          </a:prstGeom>
          <a:solidFill>
            <a:srgbClr val="60A5FA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834640" y="2130552"/>
            <a:ext cx="1783080" cy="256032"/>
          </a:xfrm>
          <a:prstGeom prst="rect">
            <a:avLst/>
          </a:prstGeom>
          <a:solidFill>
            <a:srgbClr val="60A5FA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63440" y="2130552"/>
            <a:ext cx="1783080" cy="256032"/>
          </a:xfrm>
          <a:prstGeom prst="rect">
            <a:avLst/>
          </a:prstGeom>
          <a:solidFill>
            <a:srgbClr val="1C2340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492240" y="2130552"/>
            <a:ext cx="1783080" cy="256032"/>
          </a:xfrm>
          <a:prstGeom prst="rect">
            <a:avLst/>
          </a:prstGeom>
          <a:solidFill>
            <a:srgbClr val="1C2340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339634" y="2560320"/>
                <a:ext cx="59436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800" b="1" dirty="0">
                    <a:solidFill>
                      <a:srgbClr val="F59E0B"/>
                    </a:solidFill>
                  </a:rPr>
                  <a:t> </a:t>
                </a:r>
                <a:r>
                  <a:rPr lang="en-US" dirty="0">
                    <a:solidFill>
                      <a:srgbClr val="94A3B8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US" b="1" dirty="0">
                  <a:solidFill>
                    <a:srgbClr val="F59E0B"/>
                  </a:solidFill>
                </a:endParaRPr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34" y="2560320"/>
                <a:ext cx="594360" cy="347472"/>
              </a:xfrm>
              <a:prstGeom prst="rect">
                <a:avLst/>
              </a:prstGeom>
              <a:blipFill>
                <a:blip r:embed="rId5"/>
                <a:stretch>
                  <a:fillRect t="-10526" b="-31579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1005840" y="2615184"/>
            <a:ext cx="86868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920240" y="2615184"/>
            <a:ext cx="86868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834640" y="2615184"/>
            <a:ext cx="86868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749040" y="2615184"/>
            <a:ext cx="86868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663440" y="2615184"/>
            <a:ext cx="868680" cy="256032"/>
          </a:xfrm>
          <a:prstGeom prst="rect">
            <a:avLst/>
          </a:prstGeom>
          <a:solidFill>
            <a:srgbClr val="1C2340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577840" y="2615184"/>
            <a:ext cx="868680" cy="256032"/>
          </a:xfrm>
          <a:prstGeom prst="rect">
            <a:avLst/>
          </a:prstGeom>
          <a:solidFill>
            <a:srgbClr val="1C2340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492240" y="2615184"/>
            <a:ext cx="868680" cy="256032"/>
          </a:xfrm>
          <a:prstGeom prst="rect">
            <a:avLst/>
          </a:prstGeom>
          <a:solidFill>
            <a:srgbClr val="1C2340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7406640" y="2615184"/>
            <a:ext cx="868680" cy="256032"/>
          </a:xfrm>
          <a:prstGeom prst="rect">
            <a:avLst/>
          </a:prstGeom>
          <a:solidFill>
            <a:srgbClr val="1C2340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05840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</a:rPr>
              <a:t>¡Todas representan la misma cantidad!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65760" y="3364992"/>
            <a:ext cx="2670048" cy="1417320"/>
          </a:xfrm>
          <a:prstGeom prst="rect">
            <a:avLst/>
          </a:prstGeom>
          <a:solidFill>
            <a:srgbClr val="1C2340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2670048" cy="3657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✖️ AMPLIFICAR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76732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Multiplicar numerador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y denominador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por el mismo número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25"/>
              <p:cNvSpPr/>
              <p:nvPr/>
            </p:nvSpPr>
            <p:spPr>
              <a:xfrm>
                <a:off x="457200" y="4389120"/>
                <a:ext cx="2487168" cy="3017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50" dirty="0">
                    <a:solidFill>
                      <a:srgbClr val="94A3B8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400" b="1" i="1" dirty="0">
                    <a:solidFill>
                      <a:srgbClr val="60A5FA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400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 ⋅ </m:t>
                        </m:r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sz="1400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s-ES" sz="1400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s-ES" sz="1400" b="1" i="1" dirty="0" smtClean="0">
                        <a:solidFill>
                          <a:srgbClr val="60A5F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b="1" i="1" dirty="0">
                    <a:solidFill>
                      <a:srgbClr val="60A5FA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4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s-ES" sz="1400" b="1" i="1" dirty="0">
                        <a:solidFill>
                          <a:srgbClr val="60A5F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89120"/>
                <a:ext cx="2487168" cy="301752"/>
              </a:xfrm>
              <a:prstGeom prst="rect">
                <a:avLst/>
              </a:prstGeom>
              <a:blipFill>
                <a:blip r:embed="rId6"/>
                <a:stretch>
                  <a:fillRect l="-490" t="-2000" b="-2200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3218688" y="3364992"/>
            <a:ext cx="2670048" cy="1417320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218688" y="3364992"/>
            <a:ext cx="2670048" cy="3657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310128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➗ SIMPLIFICAR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376732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Dividir numerador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y denominador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por el mismo número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30"/>
              <p:cNvSpPr/>
              <p:nvPr/>
            </p:nvSpPr>
            <p:spPr>
              <a:xfrm>
                <a:off x="3310128" y="4389120"/>
                <a:ext cx="2487168" cy="3017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 smtClean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s-E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den>
                    </m:f>
                  </m:oMath>
                </a14:m>
                <a:r>
                  <a:rPr lang="en-US" sz="1200" b="1" i="1" dirty="0">
                    <a:solidFill>
                      <a:srgbClr val="4ADE8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s-E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 b="1" i="1" dirty="0">
                            <a:solidFill>
                              <a:srgbClr val="4ADE80"/>
                            </a:solidFill>
                          </a:rPr>
                          <m:t>÷</m:t>
                        </m:r>
                        <m:r>
                          <m:rPr>
                            <m:nor/>
                          </m:rPr>
                          <a:rPr lang="es-ES" sz="1200" b="1" i="1" dirty="0">
                            <a:solidFill>
                              <a:srgbClr val="4ADE80"/>
                            </a:solidFill>
                          </a:rPr>
                          <m:t> </m:t>
                        </m:r>
                        <m:r>
                          <a:rPr lang="es-E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s-E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  <m:r>
                          <m:rPr>
                            <m:nor/>
                          </m:rPr>
                          <a:rPr lang="es-ES" sz="1200" b="1" i="1" dirty="0">
                            <a:solidFill>
                              <a:srgbClr val="4ADE8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200" b="1" i="1" dirty="0">
                            <a:solidFill>
                              <a:srgbClr val="4ADE80"/>
                            </a:solidFill>
                          </a:rPr>
                          <m:t>÷</m:t>
                        </m:r>
                        <m:r>
                          <m:rPr>
                            <m:nor/>
                          </m:rPr>
                          <a:rPr lang="es-ES" sz="1200" b="1" i="1" dirty="0">
                            <a:solidFill>
                              <a:srgbClr val="4ADE80"/>
                            </a:solidFill>
                          </a:rPr>
                          <m:t> </m:t>
                        </m:r>
                        <m:r>
                          <a:rPr lang="es-E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s-ES" sz="1200" b="1" i="1" dirty="0">
                        <a:solidFill>
                          <a:srgbClr val="4ADE8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i="1" dirty="0">
                    <a:solidFill>
                      <a:srgbClr val="4ADE8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1200" b="1" i="1" dirty="0">
                    <a:solidFill>
                      <a:srgbClr val="4ADE8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2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128" y="4389120"/>
                <a:ext cx="2487168" cy="301752"/>
              </a:xfrm>
              <a:prstGeom prst="rect">
                <a:avLst/>
              </a:prstGeom>
              <a:blipFill>
                <a:blip r:embed="rId7"/>
                <a:stretch>
                  <a:fillRect l="-1471" b="-1400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hape 31"/>
          <p:cNvSpPr/>
          <p:nvPr/>
        </p:nvSpPr>
        <p:spPr>
          <a:xfrm>
            <a:off x="6071616" y="3364992"/>
            <a:ext cx="2670048" cy="141732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071616" y="3364992"/>
            <a:ext cx="267004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163056" y="336499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✖️ MULTIPLICAR EN CRUZ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63056" y="376732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Son equivalentes si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a×d = b×c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/>
              <p:cNvSpPr/>
              <p:nvPr/>
            </p:nvSpPr>
            <p:spPr>
              <a:xfrm>
                <a:off x="6163056" y="4389120"/>
                <a:ext cx="2487168" cy="3017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2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s-ES" sz="1200" b="1" i="1" dirty="0">
                        <a:solidFill>
                          <a:srgbClr val="F59E0B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ES" sz="1200" b="1" i="1" dirty="0">
                        <a:solidFill>
                          <a:srgbClr val="F59E0B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s-ES" sz="1200" b="1" i="1" dirty="0">
                        <a:solidFill>
                          <a:srgbClr val="F59E0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2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s-ES" sz="12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r>
                  <a:rPr lang="en-US" sz="1200" b="1" i="1" dirty="0">
                    <a:solidFill>
                      <a:srgbClr val="F59E0B"/>
                    </a:solidFill>
                  </a:rPr>
                  <a:t> </a:t>
                </a:r>
                <a:r>
                  <a:rPr lang="en-US" sz="1050" b="1" i="1" dirty="0">
                    <a:solidFill>
                      <a:srgbClr val="F59E0B"/>
                    </a:solidFill>
                  </a:rPr>
                  <a:t>→ 1×15=15, 3×5=15 </a:t>
                </a:r>
                <a:endParaRPr lang="en-US" sz="1050" dirty="0"/>
              </a:p>
            </p:txBody>
          </p:sp>
        </mc:Choice>
        <mc:Fallback xmlns="">
          <p:sp>
            <p:nvSpPr>
              <p:cNvPr id="37" name="Text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056" y="4389120"/>
                <a:ext cx="2487168" cy="301752"/>
              </a:xfrm>
              <a:prstGeom prst="rect">
                <a:avLst/>
              </a:prstGeom>
              <a:blipFill>
                <a:blip r:embed="rId8"/>
                <a:stretch>
                  <a:fillRect l="-1471" b="-1200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Fracción irreducible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475488"/>
          </a:xfrm>
          <a:prstGeom prst="rect">
            <a:avLst/>
          </a:prstGeom>
          <a:solidFill>
            <a:srgbClr val="232B4A"/>
          </a:solidFill>
          <a:ln w="254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Una fracción es irreducible cuando MCD(numerador, denominador) = 1  →  No se puede simplificar más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365760" y="1481328"/>
                <a:ext cx="84124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700" b="1" dirty="0">
                    <a:solidFill>
                      <a:srgbClr val="FFFFFF"/>
                    </a:solidFill>
                  </a:rPr>
                  <a:t>Ejemplo paso a paso: </a:t>
                </a:r>
                <a:r>
                  <a:rPr lang="en-US" sz="1700" b="1" dirty="0" err="1">
                    <a:solidFill>
                      <a:srgbClr val="FFFFFF"/>
                    </a:solidFill>
                  </a:rPr>
                  <a:t>simplifica</a:t>
                </a:r>
                <a:r>
                  <a:rPr lang="en-US" sz="1700" b="1" dirty="0">
                    <a:solidFill>
                      <a:srgbClr val="FFFFFF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7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7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</m:num>
                      <m:den>
                        <m:r>
                          <a:rPr lang="es-ES" sz="17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</m:den>
                    </m:f>
                  </m:oMath>
                </a14:m>
                <a:r>
                  <a:rPr lang="en-US" sz="1700" b="1" dirty="0">
                    <a:solidFill>
                      <a:srgbClr val="FFFFFF"/>
                    </a:solidFill>
                  </a:rPr>
                  <a:t> </a:t>
                </a:r>
                <a:endParaRPr lang="en-US" sz="170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481328"/>
                <a:ext cx="8412480" cy="365760"/>
              </a:xfrm>
              <a:prstGeom prst="rect">
                <a:avLst/>
              </a:prstGeom>
              <a:blipFill>
                <a:blip r:embed="rId3"/>
                <a:stretch>
                  <a:fillRect l="-1522" t="-3333" b="-21667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365760" y="1993392"/>
            <a:ext cx="1993392" cy="2286000"/>
          </a:xfrm>
          <a:prstGeom prst="rect">
            <a:avLst/>
          </a:prstGeom>
          <a:solidFill>
            <a:srgbClr val="1C2340"/>
          </a:solidFill>
          <a:ln w="3175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1993392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38912" y="19933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72B"/>
                </a:solidFill>
              </a:rPr>
              <a:t>PASO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45059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Descompón en factores primos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" y="2944368"/>
            <a:ext cx="18470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60 = 2² × 3 × 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90 = 2 × 3² ×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59152" y="283464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14600" y="1993392"/>
            <a:ext cx="1993392" cy="2286000"/>
          </a:xfrm>
          <a:prstGeom prst="rect">
            <a:avLst/>
          </a:prstGeom>
          <a:solidFill>
            <a:srgbClr val="1C2340"/>
          </a:solidFill>
          <a:ln w="3175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514600" y="1993392"/>
            <a:ext cx="1993392" cy="3840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587752" y="19933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72B"/>
                </a:solidFill>
              </a:rPr>
              <a:t>PASO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87752" y="245059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Calcula el MCD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87752" y="2944368"/>
            <a:ext cx="18470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MCD(60,90)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= 2 × 3 × 5 = 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07992" y="283464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993392"/>
            <a:ext cx="1993392" cy="2286000"/>
          </a:xfrm>
          <a:prstGeom prst="rect">
            <a:avLst/>
          </a:prstGeom>
          <a:solidFill>
            <a:srgbClr val="1C2340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663440" y="1993392"/>
            <a:ext cx="199339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736592" y="19933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72B"/>
                </a:solidFill>
              </a:rPr>
              <a:t>PASO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245059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Divide </a:t>
            </a:r>
            <a:r>
              <a:rPr lang="en-US" sz="1150" dirty="0" err="1">
                <a:solidFill>
                  <a:srgbClr val="94A3B8"/>
                </a:solidFill>
              </a:rPr>
              <a:t>el</a:t>
            </a:r>
            <a:r>
              <a:rPr lang="en-US" sz="1150" dirty="0">
                <a:solidFill>
                  <a:srgbClr val="94A3B8"/>
                </a:solidFill>
              </a:rPr>
              <a:t> </a:t>
            </a:r>
            <a:r>
              <a:rPr lang="en-US" sz="1150" dirty="0" err="1">
                <a:solidFill>
                  <a:srgbClr val="94A3B8"/>
                </a:solidFill>
              </a:rPr>
              <a:t>numerador</a:t>
            </a:r>
            <a:r>
              <a:rPr lang="en-US" sz="1150" dirty="0">
                <a:solidFill>
                  <a:srgbClr val="94A3B8"/>
                </a:solidFill>
              </a:rPr>
              <a:t> y </a:t>
            </a:r>
            <a:r>
              <a:rPr lang="en-US" sz="1150" dirty="0" err="1">
                <a:solidFill>
                  <a:srgbClr val="94A3B8"/>
                </a:solidFill>
              </a:rPr>
              <a:t>el</a:t>
            </a:r>
            <a:r>
              <a:rPr lang="en-US" sz="1150" dirty="0">
                <a:solidFill>
                  <a:srgbClr val="94A3B8"/>
                </a:solidFill>
              </a:rPr>
              <a:t> </a:t>
            </a:r>
            <a:r>
              <a:rPr lang="en-US" sz="1150" dirty="0" err="1">
                <a:solidFill>
                  <a:srgbClr val="94A3B8"/>
                </a:solidFill>
              </a:rPr>
              <a:t>denominador</a:t>
            </a:r>
            <a:r>
              <a:rPr lang="en-US" sz="1150" dirty="0">
                <a:solidFill>
                  <a:srgbClr val="94A3B8"/>
                </a:solidFill>
              </a:rPr>
              <a:t> entre el MCD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36592" y="2944368"/>
            <a:ext cx="18470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60 ÷ 30 =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90 ÷ 30 =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56832" y="283464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12280" y="1993392"/>
            <a:ext cx="1993392" cy="2286000"/>
          </a:xfrm>
          <a:prstGeom prst="rect">
            <a:avLst/>
          </a:prstGeom>
          <a:solidFill>
            <a:srgbClr val="1C2340"/>
          </a:solidFill>
          <a:ln w="31750">
            <a:solidFill>
              <a:srgbClr val="F5C4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812280" y="1993392"/>
            <a:ext cx="1993392" cy="384048"/>
          </a:xfrm>
          <a:prstGeom prst="rect">
            <a:avLst/>
          </a:prstGeom>
          <a:solidFill>
            <a:srgbClr val="F5C42A"/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885432" y="199339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172B"/>
                </a:solidFill>
              </a:rPr>
              <a:t>RESULTADO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85432" y="2450592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Fracción irreducible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/>
              <p:cNvSpPr/>
              <p:nvPr/>
            </p:nvSpPr>
            <p:spPr>
              <a:xfrm>
                <a:off x="6885432" y="2944368"/>
                <a:ext cx="1847088" cy="10789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s-ES" sz="16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Tex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32" y="2944368"/>
                <a:ext cx="1847088" cy="10789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hape 27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EF4444">
              <a:alpha val="18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⚠️  ERROR TÍPICO: Simplificar solo hasta la mitad sin llegar a la irreducible. ¡Divide siempre por el MCD completo!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C42A"/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217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RETO RÁPIDO</a:t>
            </a:r>
            <a:endParaRPr lang="en-US" sz="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457200" y="1188720"/>
                <a:ext cx="82296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</a:rPr>
                  <a:t>¿Cuál es la fracción irreducible 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𝟒𝟖</m:t>
                        </m:r>
                      </m:num>
                      <m:den>
                        <m:r>
                          <a:rPr lang="es-ES" sz="24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𝟕𝟐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rgbClr val="FFFFFF"/>
                    </a:solidFill>
                  </a:rPr>
                  <a:t> ?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88720"/>
                <a:ext cx="8229600" cy="594360"/>
              </a:xfrm>
              <a:prstGeom prst="rect">
                <a:avLst/>
              </a:prstGeom>
              <a:blipFill>
                <a:blip r:embed="rId3"/>
                <a:stretch>
                  <a:fillRect b="-12245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457200" y="201168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1143000" y="2011680"/>
                <a:ext cx="329184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011680"/>
                <a:ext cx="3291840" cy="960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4800600" y="201168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5486400" y="2011680"/>
                <a:ext cx="329184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011680"/>
                <a:ext cx="3291840" cy="960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457200" y="320040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1143000" y="3200400"/>
                <a:ext cx="329184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200400"/>
                <a:ext cx="3291840" cy="9601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4800600" y="3200400"/>
            <a:ext cx="4114800" cy="960120"/>
          </a:xfrm>
          <a:prstGeom prst="roundRect">
            <a:avLst>
              <a:gd name="adj" fmla="val 11429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5486400" y="3200400"/>
                <a:ext cx="329184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𝟑𝟔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200400"/>
                <a:ext cx="3291840" cy="960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Comparar fracciones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8412480" cy="1170432"/>
          </a:xfrm>
          <a:prstGeom prst="rect">
            <a:avLst/>
          </a:prstGeom>
          <a:solidFill>
            <a:srgbClr val="1C2340"/>
          </a:solidFill>
          <a:ln w="317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75488" cy="11704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172B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CASO 1: Mismo denominador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1362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Mayor numerador = mayor fracción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0A5FA"/>
                </a:solidFill>
              </a:rPr>
              <a:t>6 partes vs 8 partes → ganan más partes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0" y="1097280"/>
            <a:ext cx="2971800" cy="841248"/>
          </a:xfrm>
          <a:prstGeom prst="rect">
            <a:avLst/>
          </a:prstGeom>
          <a:solidFill>
            <a:srgbClr val="232B4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5715000" y="1097280"/>
                <a:ext cx="2880360" cy="8412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60A5FA"/>
                    </a:solidFill>
                  </a:rPr>
                  <a:t> 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60A5FA"/>
                    </a:solidFill>
                  </a:rPr>
                  <a:t>   </a:t>
                </a:r>
                <a:r>
                  <a:rPr lang="en-US" sz="1300" b="1" dirty="0">
                    <a:solidFill>
                      <a:srgbClr val="60A5FA"/>
                    </a:solidFill>
                  </a:rPr>
                  <a:t>porque   6 &lt; 8</a:t>
                </a:r>
                <a:endParaRPr lang="en-US" sz="13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1097280"/>
                <a:ext cx="2880360" cy="8412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365760" y="2258568"/>
            <a:ext cx="8412480" cy="1170432"/>
          </a:xfrm>
          <a:prstGeom prst="rect">
            <a:avLst/>
          </a:prstGeom>
          <a:solidFill>
            <a:srgbClr val="1C2340"/>
          </a:solidFill>
          <a:ln w="317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475488" cy="11704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65760" y="225856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172B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CASO 2: Mismo numerador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26883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Mayor denominador = fracción más pequeña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3017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DE80"/>
                </a:solidFill>
              </a:rPr>
              <a:t>Dividir en 3 → trozos más grandes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2423160"/>
            <a:ext cx="2971800" cy="841248"/>
          </a:xfrm>
          <a:prstGeom prst="rect">
            <a:avLst/>
          </a:prstGeom>
          <a:solidFill>
            <a:srgbClr val="232B4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5715000" y="2423160"/>
                <a:ext cx="2880360" cy="8412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4ADE80"/>
                    </a:solidFill>
                  </a:rPr>
                  <a:t> &gt;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4ADE80"/>
                    </a:solidFill>
                  </a:rPr>
                  <a:t>   </a:t>
                </a:r>
                <a:r>
                  <a:rPr lang="en-US" sz="1300" b="1" dirty="0">
                    <a:solidFill>
                      <a:srgbClr val="4ADE80"/>
                    </a:solidFill>
                  </a:rPr>
                  <a:t>porque   3 &lt; 4</a:t>
                </a:r>
                <a:endParaRPr lang="en-US" sz="1300" dirty="0"/>
              </a:p>
            </p:txBody>
          </p:sp>
        </mc:Choice>
        <mc:Fallback xmlns=""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423160"/>
                <a:ext cx="2880360" cy="8412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hape 17"/>
          <p:cNvSpPr/>
          <p:nvPr/>
        </p:nvSpPr>
        <p:spPr>
          <a:xfrm>
            <a:off x="365760" y="3584448"/>
            <a:ext cx="8412480" cy="1170432"/>
          </a:xfrm>
          <a:prstGeom prst="rect">
            <a:avLst/>
          </a:prstGeom>
          <a:solidFill>
            <a:srgbClr val="1C2340"/>
          </a:solidFill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47548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65760" y="3584448"/>
            <a:ext cx="475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172B"/>
                </a:solidFill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0120" y="3657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CASO 3: Distinto num. y den.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0120" y="40142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Reducir a común denominador (MCM)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4343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59E0B"/>
                </a:solidFill>
              </a:rPr>
              <a:t>MCM(3,5)=15 → amplifico y comparo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0" y="3749040"/>
            <a:ext cx="2971800" cy="841248"/>
          </a:xfrm>
          <a:prstGeom prst="rect">
            <a:avLst/>
          </a:prstGeom>
          <a:solidFill>
            <a:srgbClr val="232B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24"/>
              <p:cNvSpPr/>
              <p:nvPr/>
            </p:nvSpPr>
            <p:spPr>
              <a:xfrm>
                <a:off x="5715000" y="3749040"/>
                <a:ext cx="2880360" cy="8412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FFFF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59E0B"/>
                    </a:solidFill>
                  </a:rPr>
                  <a:t> </a:t>
                </a:r>
                <a:r>
                  <a:rPr lang="en-US" sz="1300" b="1" dirty="0">
                    <a:solidFill>
                      <a:srgbClr val="F59E0B"/>
                    </a:solidFill>
                  </a:rPr>
                  <a:t>vs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s-ES" sz="1600" b="1" dirty="0">
                        <a:solidFill>
                          <a:srgbClr val="F59E0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300" b="1" dirty="0">
                    <a:solidFill>
                      <a:srgbClr val="F59E0B"/>
                    </a:solidFill>
                  </a:rPr>
                  <a:t>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s-ES" sz="1600" b="1" i="0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1600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59E0B"/>
                    </a:solidFill>
                  </a:rPr>
                  <a:t> </a:t>
                </a:r>
                <a:r>
                  <a:rPr lang="en-US" sz="1300" b="1" dirty="0">
                    <a:solidFill>
                      <a:srgbClr val="F59E0B"/>
                    </a:solidFill>
                  </a:rPr>
                  <a:t>vs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num>
                      <m:den>
                        <m:r>
                          <a:rPr lang="es-ES" sz="16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59E0B"/>
                    </a:solidFill>
                  </a:rPr>
                  <a:t>  </a:t>
                </a:r>
                <a:r>
                  <a:rPr lang="en-US" sz="1300" b="1" dirty="0">
                    <a:solidFill>
                      <a:srgbClr val="F59E0B"/>
                    </a:solidFill>
                  </a:rPr>
                  <a:t>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6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59E0B"/>
                    </a:solidFill>
                  </a:rPr>
                  <a:t> 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s-ES" sz="1600" b="1" dirty="0">
                        <a:solidFill>
                          <a:srgbClr val="F59E0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749040"/>
                <a:ext cx="2880360" cy="8412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Suma y resta de fracciones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77824"/>
            <a:ext cx="8412480" cy="1357884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3840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72B"/>
                </a:solidFill>
              </a:rPr>
              <a:t> MISMO DENOMINADOR  →  Suma/resta numeradores, denominador igual</a:t>
            </a:r>
            <a:endParaRPr 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548640" y="1405563"/>
                <a:ext cx="36576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28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94A3B8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28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94A3B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28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s-ES" sz="28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28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4ADE8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sz="2800" b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05563"/>
                <a:ext cx="3657600" cy="594360"/>
              </a:xfrm>
              <a:prstGeom prst="rect">
                <a:avLst/>
              </a:prstGeom>
              <a:blipFill>
                <a:blip r:embed="rId3"/>
                <a:stretch>
                  <a:fillRect l="-1500" t="-3093" b="-23711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4683034" y="1405563"/>
                <a:ext cx="411480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sz="28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94A3B8"/>
                    </a:solidFill>
                  </a:rPr>
                  <a:t>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s-ES" sz="28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94A3B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sz="28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s-ES" sz="28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s-ES" sz="2800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s-ES" sz="2800" b="1" dirty="0">
                        <a:solidFill>
                          <a:srgbClr val="4ADE8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rgbClr val="4ADE80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8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s-ES" sz="2800" b="1" i="1" dirty="0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034" y="1405563"/>
                <a:ext cx="4114800" cy="594360"/>
              </a:xfrm>
              <a:prstGeom prst="rect">
                <a:avLst/>
              </a:prstGeom>
              <a:blipFill>
                <a:blip r:embed="rId4"/>
                <a:stretch>
                  <a:fillRect l="-1333" t="-3093" b="-23711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365760" y="2521131"/>
            <a:ext cx="8412480" cy="2261181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65760" y="2530602"/>
            <a:ext cx="84124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25849" y="2521131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72B"/>
                </a:solidFill>
              </a:rPr>
              <a:t> DIFERENTE DENOMINADOR  →  Primero calcular el MCM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1938528" cy="1234440"/>
          </a:xfrm>
          <a:prstGeom prst="rect">
            <a:avLst/>
          </a:prstGeom>
          <a:solidFill>
            <a:srgbClr val="232B4A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30352" y="3456432"/>
            <a:ext cx="347472" cy="34747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30352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Calcula MCM(5,4)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895344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MCM = 20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542032" y="3401568"/>
            <a:ext cx="1938528" cy="1234440"/>
          </a:xfrm>
          <a:prstGeom prst="rect">
            <a:avLst/>
          </a:prstGeom>
          <a:solidFill>
            <a:srgbClr val="232B4A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615184" y="3456432"/>
            <a:ext cx="347472" cy="3474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615184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Amplifica cada fracción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2615184" y="3863993"/>
                <a:ext cx="1792224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FFFF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 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s-ES" sz="1600" b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r>
                  <a:rPr lang="en-US" sz="1600" b="1" dirty="0">
                    <a:solidFill>
                      <a:srgbClr val="FFFF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s-ES" sz="1600" b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s-ES" sz="1600" b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184" y="3863993"/>
                <a:ext cx="1792224" cy="658368"/>
              </a:xfrm>
              <a:prstGeom prst="rect">
                <a:avLst/>
              </a:prstGeom>
              <a:blipFill>
                <a:blip r:embed="rId5"/>
                <a:stretch>
                  <a:fillRect t="-4630" b="-14815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4626864" y="3401568"/>
            <a:ext cx="1938528" cy="1234440"/>
          </a:xfrm>
          <a:prstGeom prst="rect">
            <a:avLst/>
          </a:prstGeom>
          <a:solidFill>
            <a:srgbClr val="232B4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00016" y="345643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700016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02352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Suma numeradores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4700016" y="3895344"/>
                <a:ext cx="1792224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s-ES" b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  <m:r>
                      <a:rPr lang="es-ES" b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016" y="3895344"/>
                <a:ext cx="1792224" cy="6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hape 24"/>
          <p:cNvSpPr/>
          <p:nvPr/>
        </p:nvSpPr>
        <p:spPr>
          <a:xfrm>
            <a:off x="6711696" y="3401568"/>
            <a:ext cx="1938528" cy="1234440"/>
          </a:xfrm>
          <a:prstGeom prst="rect">
            <a:avLst/>
          </a:prstGeom>
          <a:solidFill>
            <a:srgbClr val="232B4A"/>
          </a:solidFill>
          <a:ln w="1905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784848" y="3456432"/>
            <a:ext cx="347472" cy="347472"/>
          </a:xfrm>
          <a:prstGeom prst="ellipse">
            <a:avLst/>
          </a:prstGeom>
          <a:solidFill>
            <a:srgbClr val="F5C42A"/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784848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87184" y="347472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Simplifica si es posible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84848" y="3895344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MCD(19,20)=1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→ Ya es irreducible</a:t>
            </a:r>
            <a:endParaRPr 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11C08703-57C9-080B-7ECD-1DC0AD8353A0}"/>
                  </a:ext>
                </a:extLst>
              </p:cNvPr>
              <p:cNvSpPr txBox="1"/>
              <p:nvPr/>
            </p:nvSpPr>
            <p:spPr>
              <a:xfrm>
                <a:off x="425849" y="2898543"/>
                <a:ext cx="4572000" cy="509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rgbClr val="94A3B8"/>
                    </a:solidFill>
                  </a:rPr>
                  <a:t>Ej. </a:t>
                </a:r>
                <a:r>
                  <a:rPr lang="en-US" dirty="0">
                    <a:solidFill>
                      <a:srgbClr val="94A3B8"/>
                    </a:solidFill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s-ES" dirty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94A3B8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s-ES" dirty="0">
                        <a:solidFill>
                          <a:srgbClr val="94A3B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rgbClr val="94A3B8"/>
                    </a:solidFill>
                  </a:rPr>
                  <a:t> </a:t>
                </a:r>
                <a:endParaRPr lang="es-ES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11C08703-57C9-080B-7ECD-1DC0AD835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49" y="2898543"/>
                <a:ext cx="4572000" cy="509883"/>
              </a:xfrm>
              <a:prstGeom prst="rect">
                <a:avLst/>
              </a:prstGeom>
              <a:blipFill>
                <a:blip r:embed="rId7"/>
                <a:stretch>
                  <a:fillRect l="-1200" b="-357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Multiplicación y División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72291" y="893499"/>
            <a:ext cx="4069080" cy="3840480"/>
          </a:xfrm>
          <a:prstGeom prst="rect">
            <a:avLst/>
          </a:prstGeom>
          <a:solidFill>
            <a:srgbClr val="1C2340"/>
          </a:solidFill>
          <a:ln w="317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4069080" cy="43891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✖️  MULTIPLICACIÓN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Numerador × Numerador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Denominador × Denominador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03704"/>
            <a:ext cx="3794760" cy="566928"/>
          </a:xfrm>
          <a:prstGeom prst="rect">
            <a:avLst/>
          </a:prstGeom>
          <a:solidFill>
            <a:srgbClr val="232B4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502920" y="2176272"/>
                <a:ext cx="379476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s-ES" b="1" i="1" dirty="0" smtClean="0">
                        <a:solidFill>
                          <a:srgbClr val="60A5FA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b="1" dirty="0">
                    <a:solidFill>
                      <a:srgbClr val="60A5FA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60A5FA"/>
                    </a:solidFill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 ⋅ </m:t>
                        </m:r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 ⋅ </m:t>
                        </m:r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60A5FA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60A5FA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176272"/>
                <a:ext cx="3794760" cy="5669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502920" y="2841825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💡 TRUCO: </a:t>
            </a:r>
          </a:p>
          <a:p>
            <a:pPr marL="0" indent="0" algn="ctr">
              <a:buNone/>
            </a:pPr>
            <a:r>
              <a:rPr lang="en-US" sz="1300" i="1" dirty="0" err="1">
                <a:solidFill>
                  <a:srgbClr val="94A3B8"/>
                </a:solidFill>
              </a:rPr>
              <a:t>Simplifica</a:t>
            </a:r>
            <a:r>
              <a:rPr lang="en-US" sz="1300" i="1" dirty="0">
                <a:solidFill>
                  <a:srgbClr val="94A3B8"/>
                </a:solidFill>
              </a:rPr>
              <a:t> </a:t>
            </a:r>
            <a:r>
              <a:rPr lang="en-US" sz="1300" i="1" dirty="0" err="1">
                <a:solidFill>
                  <a:srgbClr val="94A3B8"/>
                </a:solidFill>
              </a:rPr>
              <a:t>en</a:t>
            </a:r>
            <a:r>
              <a:rPr lang="en-US" sz="1300" dirty="0"/>
              <a:t> </a:t>
            </a:r>
            <a:r>
              <a:rPr lang="en-US" sz="1300" i="1" dirty="0">
                <a:solidFill>
                  <a:srgbClr val="94A3B8"/>
                </a:solidFill>
              </a:rPr>
              <a:t>diagonal ANTES de multiplicar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(ahorra tiempo y errores)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84448"/>
            <a:ext cx="3794760" cy="914400"/>
          </a:xfrm>
          <a:prstGeom prst="rect">
            <a:avLst/>
          </a:prstGeom>
          <a:solidFill>
            <a:srgbClr val="232B4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594361" y="3634087"/>
                <a:ext cx="3794759" cy="8046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</m:num>
                      <m:den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s-ES" sz="16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num>
                      <m:den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 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 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den>
                    </m:f>
                    <m:r>
                      <a:rPr lang="es-ES" sz="1600" b="0" i="0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𝟏𝟒</m:t>
                        </m:r>
                        <m:r>
                          <a:rPr lang="es-ES" sz="1600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 </m:t>
                        </m:r>
                        <m:r>
                          <a:rPr lang="es-ES" sz="16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𝟐𝟏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 </m:t>
                        </m:r>
                        <m:r>
                          <a:rPr lang="es-ES" sz="1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s-ES" sz="16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1" y="3634087"/>
                <a:ext cx="3794759" cy="804672"/>
              </a:xfrm>
              <a:prstGeom prst="rect">
                <a:avLst/>
              </a:prstGeom>
              <a:blipFill>
                <a:blip r:embed="rId4"/>
                <a:stretch>
                  <a:fillRect l="-1447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4686300" y="886968"/>
            <a:ext cx="4069080" cy="3840480"/>
          </a:xfrm>
          <a:prstGeom prst="rect">
            <a:avLst/>
          </a:prstGeom>
          <a:solidFill>
            <a:srgbClr val="1C2340"/>
          </a:solidFill>
          <a:ln w="317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709160" y="886968"/>
            <a:ext cx="4069080" cy="43891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00600" y="8869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72B"/>
                </a:solidFill>
              </a:rPr>
              <a:t>➗  DIVISIÓN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14447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Multiplicar por la fracción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INVERSA (girar la segunda)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203704"/>
            <a:ext cx="3794760" cy="566928"/>
          </a:xfrm>
          <a:prstGeom prst="rect">
            <a:avLst/>
          </a:prstGeom>
          <a:solidFill>
            <a:srgbClr val="232B4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4800600" y="2176272"/>
                <a:ext cx="379476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4ADE80"/>
                    </a:solidFill>
                  </a:rPr>
                  <a:t> 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4ADE80"/>
                    </a:solidFill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s-ES" b="1" dirty="0">
                        <a:solidFill>
                          <a:srgbClr val="4ADE80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b="1" dirty="0">
                    <a:solidFill>
                      <a:srgbClr val="4ADE80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4ADE80"/>
                    </a:solidFill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4ADE8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s-ES" b="1" dirty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𝟑𝟓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176272"/>
                <a:ext cx="3794760" cy="5669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4800600" y="2793492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💡 FRACCIÓN INVERSA: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Dar la vuelta a la </a:t>
            </a:r>
            <a:r>
              <a:rPr lang="en-US" sz="1300" i="1" dirty="0" err="1">
                <a:solidFill>
                  <a:srgbClr val="94A3B8"/>
                </a:solidFill>
              </a:rPr>
              <a:t>fracción</a:t>
            </a:r>
            <a:r>
              <a:rPr lang="en-US" sz="1300" i="1" dirty="0">
                <a:solidFill>
                  <a:srgbClr val="94A3B8"/>
                </a:solidFill>
              </a:rPr>
              <a:t>.</a:t>
            </a:r>
            <a:r>
              <a:rPr lang="en-US" sz="1300" dirty="0"/>
              <a:t> </a:t>
            </a:r>
            <a:r>
              <a:rPr lang="en-US" sz="1300" i="1" dirty="0" err="1">
                <a:solidFill>
                  <a:srgbClr val="94A3B8"/>
                </a:solidFill>
              </a:rPr>
              <a:t>Inversa</a:t>
            </a:r>
            <a:r>
              <a:rPr lang="en-US" sz="1300" i="1" dirty="0">
                <a:solidFill>
                  <a:srgbClr val="94A3B8"/>
                </a:solidFill>
              </a:rPr>
              <a:t> de a/b es b/a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</a:rPr>
              <a:t>(son inversas si su producto = 1)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3579876"/>
            <a:ext cx="3794760" cy="918972"/>
          </a:xfrm>
          <a:prstGeom prst="rect">
            <a:avLst/>
          </a:prstGeom>
          <a:solidFill>
            <a:srgbClr val="232B4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4972050" y="3698748"/>
                <a:ext cx="370332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nor/>
                      </m:rPr>
                      <a:rPr lang="en-US" sz="16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÷</m:t>
                    </m:r>
                    <m:r>
                      <m:rPr>
                        <m:nor/>
                      </m:rPr>
                      <a:rPr lang="es-ES" sz="16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i="1" dirty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s-ES" sz="16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sz="1600" i="1" dirty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nor/>
                      </m:rPr>
                      <a:rPr lang="en-US" sz="16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→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s-ES" sz="16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⋅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  <m:r>
                      <a:rPr lang="es-ES" sz="160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s-ES" sz="16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s-ES" sz="16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50" y="3698748"/>
                <a:ext cx="3703320" cy="731520"/>
              </a:xfrm>
              <a:prstGeom prst="rect">
                <a:avLst/>
              </a:prstGeom>
              <a:blipFill>
                <a:blip r:embed="rId6"/>
                <a:stretch>
                  <a:fillRect l="-148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Jerarquía de operaciones y Potencias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69080" cy="3474720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6908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📋  ORDEN DE PRIORIDAD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5488" y="1371600"/>
            <a:ext cx="3840480" cy="594360"/>
          </a:xfrm>
          <a:prstGeom prst="rect">
            <a:avLst/>
          </a:prstGeom>
          <a:solidFill>
            <a:srgbClr val="232B4A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75488" y="1371600"/>
            <a:ext cx="41148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72B"/>
                </a:solidFill>
              </a:rPr>
              <a:t>1º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40817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( 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2768" y="14081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Paréntesis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de dentro a fuera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084832"/>
            <a:ext cx="3840480" cy="594360"/>
          </a:xfrm>
          <a:prstGeom prst="rect">
            <a:avLst/>
          </a:prstGeom>
          <a:solidFill>
            <a:srgbClr val="232B4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75488" y="2084832"/>
            <a:ext cx="41148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5488" y="208483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72B"/>
                </a:solidFill>
              </a:rPr>
              <a:t>2º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12140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xⁿ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2768" y="2121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Potencias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2768" y="2404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numerador y denominador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2798064"/>
            <a:ext cx="3840480" cy="594360"/>
          </a:xfrm>
          <a:prstGeom prst="rect">
            <a:avLst/>
          </a:prstGeom>
          <a:solidFill>
            <a:srgbClr val="232B4A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75488" y="2798064"/>
            <a:ext cx="411480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75488" y="279806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72B"/>
                </a:solidFill>
              </a:rPr>
              <a:t>3º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28346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</a:rPr>
              <a:t>× 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2768" y="2834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Multiplicación y División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72768" y="31181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de izquierda a derecha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3511296"/>
            <a:ext cx="3840480" cy="594360"/>
          </a:xfrm>
          <a:prstGeom prst="rect">
            <a:avLst/>
          </a:prstGeom>
          <a:solidFill>
            <a:srgbClr val="232B4A"/>
          </a:solidFill>
          <a:ln w="1905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75488" y="3511296"/>
            <a:ext cx="411480" cy="594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75488" y="351129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72B"/>
                </a:solidFill>
              </a:rPr>
              <a:t>4º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2688" y="35478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</a:rPr>
              <a:t>+ 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72768" y="3547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Suma y Resta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72768" y="38313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de izquierda a derecha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868679"/>
            <a:ext cx="4114800" cy="4193177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31" name="Shape 29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75488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72B"/>
                </a:solidFill>
              </a:rPr>
              <a:t>⚡  POTENCIAS DE FRACCIONES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Se eleva numerador Y denominador: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1755648"/>
            <a:ext cx="3931920" cy="566928"/>
          </a:xfrm>
          <a:prstGeom prst="rect">
            <a:avLst/>
          </a:prstGeom>
          <a:solidFill>
            <a:srgbClr val="232B4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33"/>
              <p:cNvSpPr/>
              <p:nvPr/>
            </p:nvSpPr>
            <p:spPr>
              <a:xfrm>
                <a:off x="4754880" y="1755648"/>
                <a:ext cx="3931920" cy="5669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1500" b="1" i="1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500" b="1" i="1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500" b="1" i="1">
                                    <a:solidFill>
                                      <a:srgbClr val="F59E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500" b="1" i="1">
                                    <a:solidFill>
                                      <a:srgbClr val="F59E0B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num>
                              <m:den>
                                <m:r>
                                  <a:rPr lang="es-ES" sz="1500" b="1" i="1">
                                    <a:solidFill>
                                      <a:srgbClr val="F59E0B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500" b="1" i="1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F59E0B"/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b="1" i="1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sz="1500" b="1" i="1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1500" b="1" i="1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1500" b="1" i="1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ES" sz="1500" b="1" i="1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1500" b="1" i="1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s-ES" sz="1500" b="1" i="1" smtClean="0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lang="es-ES" sz="1500" b="1" i="1">
                        <a:solidFill>
                          <a:srgbClr val="F59E0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500" b="1" dirty="0">
                    <a:solidFill>
                      <a:srgbClr val="F59E0B"/>
                    </a:solidFill>
                  </a:rPr>
                  <a:t> 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b="1" i="1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500" b="1" i="1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500" b="1" i="1">
                                <a:solidFill>
                                  <a:srgbClr val="F59E0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500" b="1" i="1">
                                    <a:solidFill>
                                      <a:srgbClr val="F59E0B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500" b="1" i="1" smtClean="0">
                                    <a:solidFill>
                                      <a:srgbClr val="F59E0B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s-ES" sz="1500" b="1" i="1" smtClean="0">
                                    <a:solidFill>
                                      <a:srgbClr val="F59E0B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500" b="1" i="1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F59E0B"/>
                    </a:solidFill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500" b="1" i="1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500" b="1" i="1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s-ES" sz="1500" b="1" i="1" smtClean="0">
                            <a:solidFill>
                              <a:srgbClr val="F59E0B"/>
                            </a:solidFill>
                            <a:latin typeface="Cambria Math" panose="02040503050406030204" pitchFamily="18" charset="0"/>
                          </a:rPr>
                          <m:t>𝟐𝟕</m:t>
                        </m:r>
                      </m:den>
                    </m:f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35" name="Text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1755648"/>
                <a:ext cx="3931920" cy="5669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hape 34"/>
          <p:cNvSpPr/>
          <p:nvPr/>
        </p:nvSpPr>
        <p:spPr>
          <a:xfrm>
            <a:off x="4754880" y="2450592"/>
            <a:ext cx="3931920" cy="548640"/>
          </a:xfrm>
          <a:prstGeom prst="rect">
            <a:avLst/>
          </a:prstGeom>
          <a:solidFill>
            <a:srgbClr val="232B4A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846320" y="24414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Base positiva, cualquier exp.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36"/>
              <p:cNvSpPr/>
              <p:nvPr/>
            </p:nvSpPr>
            <p:spPr>
              <a:xfrm>
                <a:off x="4846320" y="2670048"/>
                <a:ext cx="37490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200" b="1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200" b="1" i="1">
                                <a:solidFill>
                                  <a:srgbClr val="4ADE8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00" b="1" i="1">
                                    <a:solidFill>
                                      <a:srgbClr val="4ADE8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1">
                                    <a:solidFill>
                                      <a:srgbClr val="4ADE8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s-ES" sz="1200" b="1">
                                    <a:solidFill>
                                      <a:srgbClr val="4ADE8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00" b="1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200" b="1" dirty="0">
                    <a:solidFill>
                      <a:srgbClr val="4ADE8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 smtClean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4ADE80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  <m:r>
                      <a:rPr lang="es-ES" sz="1200" b="1" i="1" dirty="0" smtClean="0">
                        <a:solidFill>
                          <a:srgbClr val="4ADE8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rgbClr val="4ADE80"/>
                    </a:solidFill>
                  </a:rPr>
                  <a:t>&gt; 0  ✓ Positivo</a:t>
                </a:r>
                <a:endParaRPr lang="en-US" sz="1200" dirty="0"/>
              </a:p>
            </p:txBody>
          </p:sp>
        </mc:Choice>
        <mc:Fallback xmlns="">
          <p:sp>
            <p:nvSpPr>
              <p:cNvPr id="38" name="Text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2670048"/>
                <a:ext cx="3749040" cy="237744"/>
              </a:xfrm>
              <a:prstGeom prst="rect">
                <a:avLst/>
              </a:prstGeom>
              <a:blipFill>
                <a:blip r:embed="rId4"/>
                <a:stretch>
                  <a:fillRect l="-163" t="-15385" b="-38462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hape 37"/>
          <p:cNvSpPr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solidFill>
            <a:srgbClr val="232B4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846320" y="3106347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Base negativa, exp. PAR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39"/>
              <p:cNvSpPr/>
              <p:nvPr/>
            </p:nvSpPr>
            <p:spPr>
              <a:xfrm>
                <a:off x="4846320" y="3344091"/>
                <a:ext cx="37490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 smtClean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200" b="1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200" b="1" i="1">
                                <a:solidFill>
                                  <a:srgbClr val="60A5F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200" b="1" dirty="0">
                                <a:solidFill>
                                  <a:srgbClr val="60A5FA"/>
                                </a:solidFill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200" b="1" i="1">
                                    <a:solidFill>
                                      <a:srgbClr val="60A5F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1">
                                    <a:solidFill>
                                      <a:srgbClr val="60A5FA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s-ES" sz="1200" b="1">
                                    <a:solidFill>
                                      <a:srgbClr val="60A5FA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00" b="1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200" b="1" dirty="0">
                    <a:solidFill>
                      <a:srgbClr val="60A5FA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sz="1200" b="1" dirty="0">
                            <a:solidFill>
                              <a:srgbClr val="60A5FA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60A5FA"/>
                    </a:solidFill>
                  </a:rPr>
                  <a:t> &gt; 0  ✓ Positivo</a:t>
                </a:r>
                <a:endParaRPr lang="en-US" sz="1200" dirty="0"/>
              </a:p>
            </p:txBody>
          </p:sp>
        </mc:Choice>
        <mc:Fallback xmlns="">
          <p:sp>
            <p:nvSpPr>
              <p:cNvPr id="41" name="Text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3344091"/>
                <a:ext cx="3749040" cy="237744"/>
              </a:xfrm>
              <a:prstGeom prst="rect">
                <a:avLst/>
              </a:prstGeom>
              <a:blipFill>
                <a:blip r:embed="rId5"/>
                <a:stretch>
                  <a:fillRect l="-163" t="-15385" b="-38462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Shape 40"/>
          <p:cNvSpPr/>
          <p:nvPr/>
        </p:nvSpPr>
        <p:spPr>
          <a:xfrm>
            <a:off x="4754880" y="3767328"/>
            <a:ext cx="3931920" cy="548640"/>
          </a:xfrm>
          <a:prstGeom prst="rect">
            <a:avLst/>
          </a:prstGeom>
          <a:solidFill>
            <a:srgbClr val="232B4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4846320" y="3767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Base negativa, exp. IMPAR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42"/>
              <p:cNvSpPr/>
              <p:nvPr/>
            </p:nvSpPr>
            <p:spPr>
              <a:xfrm>
                <a:off x="4846320" y="4003112"/>
                <a:ext cx="37490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200" b="1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200" b="1" i="1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200" b="1" dirty="0">
                                <a:solidFill>
                                  <a:srgbClr val="EF4444"/>
                                </a:solidFill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200" b="1" i="1">
                                    <a:solidFill>
                                      <a:srgbClr val="EF444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1">
                                    <a:solidFill>
                                      <a:srgbClr val="EF444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s-ES" sz="1200" b="1">
                                    <a:solidFill>
                                      <a:srgbClr val="EF4444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00" b="1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200" b="1" dirty="0">
                    <a:solidFill>
                      <a:srgbClr val="EF4444"/>
                    </a:solidFill>
                  </a:rPr>
                  <a:t> =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s-ES" sz="1200" b="1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𝟐𝟕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EF4444"/>
                    </a:solidFill>
                  </a:rPr>
                  <a:t> &lt; 0  ✗ Negativo</a:t>
                </a:r>
                <a:endParaRPr lang="en-US" sz="1200" dirty="0"/>
              </a:p>
            </p:txBody>
          </p:sp>
        </mc:Choice>
        <mc:Fallback xmlns="">
          <p:sp>
            <p:nvSpPr>
              <p:cNvPr id="44" name="Text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4003112"/>
                <a:ext cx="3749040" cy="237744"/>
              </a:xfrm>
              <a:prstGeom prst="rect">
                <a:avLst/>
              </a:prstGeom>
              <a:blipFill>
                <a:blip r:embed="rId6"/>
                <a:stretch>
                  <a:fillRect l="-163" t="-15385" b="-38462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hape 43"/>
          <p:cNvSpPr/>
          <p:nvPr/>
        </p:nvSpPr>
        <p:spPr>
          <a:xfrm>
            <a:off x="4754880" y="4425696"/>
            <a:ext cx="3931920" cy="548640"/>
          </a:xfrm>
          <a:prstGeom prst="rect">
            <a:avLst/>
          </a:prstGeom>
          <a:solidFill>
            <a:srgbClr val="232B4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846320" y="4434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Exponente negativo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45"/>
              <p:cNvSpPr/>
              <p:nvPr/>
            </p:nvSpPr>
            <p:spPr>
              <a:xfrm>
                <a:off x="4846320" y="4681728"/>
                <a:ext cx="374904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1" i="1">
                                <a:solidFill>
                                  <a:srgbClr val="A78BF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00" b="1" i="1">
                                    <a:solidFill>
                                      <a:srgbClr val="A78BF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1">
                                    <a:solidFill>
                                      <a:srgbClr val="A78BFA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num>
                              <m:den>
                                <m:r>
                                  <a:rPr lang="es-ES" sz="1200" b="1">
                                    <a:solidFill>
                                      <a:srgbClr val="A78BFA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00" b="1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200" b="1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1200" b="1" dirty="0">
                    <a:solidFill>
                      <a:srgbClr val="A78BFA"/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>
                            <a:solidFill>
                              <a:srgbClr val="A78BF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sz="1200" b="1" i="1">
                                <a:solidFill>
                                  <a:srgbClr val="A78BF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1200" b="1">
                                <a:solidFill>
                                  <a:srgbClr val="A78BFA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s-ES" sz="1200" b="1">
                                <a:solidFill>
                                  <a:srgbClr val="A78BFA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ES" sz="1200" b="1" i="1">
                                <a:solidFill>
                                  <a:srgbClr val="A78BF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1200" b="1">
                                <a:solidFill>
                                  <a:srgbClr val="A78BFA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1200" b="1">
                                <a:solidFill>
                                  <a:srgbClr val="A78BFA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lang="es-ES" sz="1200" b="1">
                        <a:solidFill>
                          <a:srgbClr val="A78BF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solidFill>
                      <a:srgbClr val="A78BFA"/>
                    </a:solidFill>
                  </a:rPr>
                  <a:t>→  dar la vuelta</a:t>
                </a:r>
                <a:endParaRPr lang="en-US" sz="1200" dirty="0"/>
              </a:p>
            </p:txBody>
          </p:sp>
        </mc:Choice>
        <mc:Fallback xmlns="">
          <p:sp>
            <p:nvSpPr>
              <p:cNvPr id="47" name="Text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4681728"/>
                <a:ext cx="3749040" cy="237744"/>
              </a:xfrm>
              <a:prstGeom prst="rect">
                <a:avLst/>
              </a:prstGeom>
              <a:blipFill>
                <a:blip r:embed="rId7"/>
                <a:stretch>
                  <a:fillRect t="-7692" b="-35897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DETECTA EL ERROR — ¿Dónde está el fallo?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70432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25880" cy="11704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ERROR 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0" y="1133856"/>
            <a:ext cx="2286000" cy="896112"/>
          </a:xfrm>
          <a:prstGeom prst="rect">
            <a:avLst/>
          </a:prstGeom>
          <a:solidFill>
            <a:srgbClr val="991B1B">
              <a:alpha val="6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874520" y="1133856"/>
                <a:ext cx="219456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00" b="1" dirty="0">
                    <a:solidFill>
                      <a:srgbClr val="EF4444"/>
                    </a:solidFill>
                  </a:rPr>
                  <a:t>❌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s-ES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s-ES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520" y="1133856"/>
                <a:ext cx="2194560" cy="896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4187952" y="13533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4572000" y="1097280"/>
                <a:ext cx="274320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FFFFFF"/>
                    </a:solidFill>
                  </a:rPr>
                  <a:t>Los denominadores son distintos.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FFFFFF"/>
                    </a:solidFill>
                  </a:rPr>
                  <a:t>Hay que buscar MCM(3,4)=12</a:t>
                </a:r>
                <a:endParaRPr lang="en-US" sz="12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97280"/>
                <a:ext cx="2743200" cy="960120"/>
              </a:xfrm>
              <a:prstGeom prst="rect">
                <a:avLst/>
              </a:prstGeom>
              <a:blipFill>
                <a:blip r:embed="rId4"/>
                <a:stretch>
                  <a:fillRect l="-333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7406640" y="120700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⚠️ NUNCA sumes numeradores y denominadores directamente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8412480" cy="1170432"/>
          </a:xfrm>
          <a:prstGeom prst="rect">
            <a:avLst/>
          </a:prstGeom>
          <a:solidFill>
            <a:srgbClr val="1C2340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1325880" cy="1170432"/>
          </a:xfrm>
          <a:prstGeom prst="rect">
            <a:avLst/>
          </a:prstGeom>
          <a:solidFill>
            <a:srgbClr val="60A5FA">
              <a:alpha val="70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ERROR 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828800" y="2432304"/>
            <a:ext cx="2286000" cy="896112"/>
          </a:xfrm>
          <a:prstGeom prst="rect">
            <a:avLst/>
          </a:prstGeom>
          <a:solidFill>
            <a:srgbClr val="991B1B">
              <a:alpha val="6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1874520" y="2432304"/>
                <a:ext cx="219456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00" b="1" dirty="0">
                    <a:solidFill>
                      <a:srgbClr val="EF4444"/>
                    </a:solidFill>
                  </a:rPr>
                  <a:t>❌</a:t>
                </a:r>
                <a:r>
                  <a:rPr lang="en-US" b="1" dirty="0">
                    <a:solidFill>
                      <a:srgbClr val="EF4444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EF4444"/>
                    </a:solidFill>
                  </a:rPr>
                  <a:t> 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s-ES" b="1" i="1" dirty="0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s-ES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520" y="2432304"/>
                <a:ext cx="2194560" cy="8961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4187952" y="2651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16"/>
              <p:cNvSpPr/>
              <p:nvPr/>
            </p:nvSpPr>
            <p:spPr>
              <a:xfrm>
                <a:off x="4572000" y="2395728"/>
                <a:ext cx="274320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FFFFFF"/>
                    </a:solidFill>
                  </a:rPr>
                  <a:t>División = multiplicar por la inversa</a:t>
                </a:r>
                <a:endParaRPr lang="en-US" sz="1200" dirty="0"/>
              </a:p>
              <a:p>
                <a:r>
                  <a:rPr lang="en-US" sz="1400" dirty="0">
                    <a:solidFill>
                      <a:srgbClr val="FFFFFF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14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4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s-ES" sz="14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s-ES" sz="14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395728"/>
                <a:ext cx="2743200" cy="960120"/>
              </a:xfrm>
              <a:prstGeom prst="rect">
                <a:avLst/>
              </a:prstGeom>
              <a:blipFill>
                <a:blip r:embed="rId6"/>
                <a:stretch>
                  <a:fillRect l="-400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17"/>
          <p:cNvSpPr/>
          <p:nvPr/>
        </p:nvSpPr>
        <p:spPr>
          <a:xfrm>
            <a:off x="7406640" y="2505456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A5FA"/>
                </a:solidFill>
              </a:rPr>
              <a:t>⚠️ En la división, la segunda fracción se invierte (gira)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02736"/>
            <a:ext cx="8412480" cy="1170432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Shape 19"/>
          <p:cNvSpPr/>
          <p:nvPr/>
        </p:nvSpPr>
        <p:spPr>
          <a:xfrm>
            <a:off x="365760" y="3602736"/>
            <a:ext cx="1325880" cy="1170432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65760" y="3602736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ERROR 3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828800" y="3730752"/>
            <a:ext cx="2286000" cy="896112"/>
          </a:xfrm>
          <a:prstGeom prst="rect">
            <a:avLst/>
          </a:prstGeom>
          <a:solidFill>
            <a:srgbClr val="991B1B">
              <a:alpha val="60000"/>
            </a:srgbClr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22"/>
              <p:cNvSpPr/>
              <p:nvPr/>
            </p:nvSpPr>
            <p:spPr>
              <a:xfrm>
                <a:off x="1874520" y="3730752"/>
                <a:ext cx="219456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500" b="1" dirty="0">
                    <a:solidFill>
                      <a:srgbClr val="EF4444"/>
                    </a:solidFill>
                  </a:rPr>
                  <a:t>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b="1" i="1" dirty="0">
                                <a:solidFill>
                                  <a:srgbClr val="EF444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1" i="1">
                                    <a:solidFill>
                                      <a:srgbClr val="EF444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1" i="1">
                                    <a:solidFill>
                                      <a:srgbClr val="EF4444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s-ES" b="1" i="1">
                                    <a:solidFill>
                                      <a:srgbClr val="EF4444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b="1" i="1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 smtClean="0">
                        <a:solidFill>
                          <a:srgbClr val="EF4444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i="1" dirty="0">
                    <a:solidFill>
                      <a:srgbClr val="EF4444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b="1" dirty="0">
                    <a:solidFill>
                      <a:srgbClr val="EF4444"/>
                    </a:solidFill>
                  </a:rPr>
                  <a:t>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dirty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b="1" i="1" dirty="0" smtClean="0">
                            <a:solidFill>
                              <a:srgbClr val="EF4444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EF4444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520" y="3730752"/>
                <a:ext cx="2194560" cy="8961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23"/>
          <p:cNvSpPr/>
          <p:nvPr/>
        </p:nvSpPr>
        <p:spPr>
          <a:xfrm>
            <a:off x="4187952" y="39502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24"/>
              <p:cNvSpPr/>
              <p:nvPr/>
            </p:nvSpPr>
            <p:spPr>
              <a:xfrm>
                <a:off x="4572000" y="3694176"/>
                <a:ext cx="274320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FFFFFF"/>
                    </a:solidFill>
                  </a:rPr>
                  <a:t>Base negativa con exponente PAR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FFFFFF"/>
                    </a:solidFill>
                  </a:rPr>
                  <a:t>siempre da resultado POSITIVO</a:t>
                </a:r>
                <a:endParaRPr lang="en-US" sz="12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1400" dirty="0">
                                <a:solidFill>
                                  <a:srgbClr val="FFFFFF"/>
                                </a:solidFill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4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4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s-ES" sz="14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4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14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sz="140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FFFFFF"/>
                    </a:solidFill>
                  </a:rPr>
                  <a:t> </a:t>
                </a:r>
                <a:endParaRPr lang="en-US" sz="1400" dirty="0"/>
              </a:p>
            </p:txBody>
          </p:sp>
        </mc:Choice>
        <mc:Fallback>
          <p:sp>
            <p:nvSpPr>
              <p:cNvPr id="26" name="Text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694176"/>
                <a:ext cx="2743200" cy="960120"/>
              </a:xfrm>
              <a:prstGeom prst="rect">
                <a:avLst/>
              </a:prstGeom>
              <a:blipFill>
                <a:blip r:embed="rId8"/>
                <a:stretch>
                  <a:fillRect l="-333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25"/>
          <p:cNvSpPr/>
          <p:nvPr/>
        </p:nvSpPr>
        <p:spPr>
          <a:xfrm>
            <a:off x="7406640" y="3803904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78BFA"/>
                </a:solidFill>
              </a:rPr>
              <a:t>⚠️ Exponente par → resultado positivo siempre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números decimales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70048" cy="3858768"/>
          </a:xfrm>
          <a:prstGeom prst="rect">
            <a:avLst/>
          </a:prstGeom>
          <a:solidFill>
            <a:srgbClr val="1C2340"/>
          </a:solidFill>
          <a:ln w="3175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70048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✅  DECIMAL EXACTO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Tiene un número LIMITADO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de cifras decimales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22128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Ejemplos: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2542032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54203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0,75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3017520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5488" y="301752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3,125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3493008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5488" y="349300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1,4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" y="4096512"/>
            <a:ext cx="2450592" cy="530352"/>
          </a:xfrm>
          <a:prstGeom prst="rect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💡 Den. solo tiene factores 2 y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914400"/>
            <a:ext cx="2670048" cy="3858768"/>
          </a:xfrm>
          <a:prstGeom prst="rect">
            <a:avLst/>
          </a:prstGeom>
          <a:solidFill>
            <a:srgbClr val="1C2340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218688" y="914400"/>
            <a:ext cx="267004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310128" y="9144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🔄  PERIÓDICO PURO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8416" y="148132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El periodo empieza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JUSTO después de la coma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28416" y="22128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Ejemplos: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28416" y="2542032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328416" y="254203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0,3̄ = 0,333…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28416" y="3017520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28416" y="301752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0,142857̄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28416" y="3493008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28416" y="349300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1,125̄125̄…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28416" y="4096512"/>
            <a:ext cx="2450592" cy="53035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355848" y="409651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💡 Den. tiene factores distintos de 2 y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71616" y="914400"/>
            <a:ext cx="2670048" cy="3858768"/>
          </a:xfrm>
          <a:prstGeom prst="rect">
            <a:avLst/>
          </a:prstGeom>
          <a:solidFill>
            <a:srgbClr val="1C2340"/>
          </a:solidFill>
          <a:ln w="317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071616" y="914400"/>
            <a:ext cx="2670048" cy="4754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163056" y="91440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🔀  PERIÓDICO MIXTO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1344" y="1481328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El periodo NO empieza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inmediatamente tras la coma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81344" y="221284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Ejemplos: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1344" y="2542032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181344" y="254203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0,53̄ = 0,5333…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81344" y="3017520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181344" y="301752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1,52̄125̄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81344" y="3493008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181344" y="349300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3,7̄7̄657̄…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81344" y="4096512"/>
            <a:ext cx="2450592" cy="530352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208776" y="4096512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💡 Hay anteperiodo antes del periodo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3200400" cy="384048"/>
          </a:xfrm>
          <a:prstGeom prst="roundRect">
            <a:avLst>
              <a:gd name="adj" fmla="val 19048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</a:rPr>
              <a:t>TRUCO SIN DIVIDIR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¿La fracción es exacta o periódica?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58368"/>
          </a:xfrm>
          <a:prstGeom prst="rect">
            <a:avLst/>
          </a:prstGeom>
          <a:solidFill>
            <a:srgbClr val="232B4A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Simplifica la fracción → descompón el denominador en factores primos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</a:rPr>
              <a:t>Si solo tiene factores 2 y 5 → EXACTO     Si tiene otro factor → PERIÓDICO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651760" cy="1051560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475488" y="2286000"/>
                <a:ext cx="86868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0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ES" sz="2800" b="1" i="0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US" sz="2600" b="1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2286000"/>
                <a:ext cx="868680" cy="960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1417320" y="229514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8 = 2³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17320" y="2624328"/>
            <a:ext cx="1508760" cy="292608"/>
          </a:xfrm>
          <a:prstGeom prst="rect">
            <a:avLst/>
          </a:prstGeom>
          <a:solidFill>
            <a:srgbClr val="4ADE80">
              <a:alpha val="3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417320" y="26243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EXACTO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17320" y="2953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DE80"/>
                </a:solidFill>
              </a:rPr>
              <a:t>Solo factor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2240280"/>
            <a:ext cx="2651760" cy="105156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3328416" y="2286000"/>
                <a:ext cx="86868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s-ES" sz="24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6" y="2286000"/>
                <a:ext cx="868680" cy="960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4270248" y="229514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12 = 2²×3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70248" y="2624328"/>
            <a:ext cx="1508760" cy="292608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270248" y="26243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PERIÓDICO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70248" y="2953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Tiene factor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1616" y="2240280"/>
            <a:ext cx="2651760" cy="1051560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6181344" y="2286000"/>
                <a:ext cx="86868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2286000"/>
                <a:ext cx="868680" cy="960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0"/>
          <p:cNvSpPr/>
          <p:nvPr/>
        </p:nvSpPr>
        <p:spPr>
          <a:xfrm>
            <a:off x="7123176" y="229514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25 = 5²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23176" y="2624328"/>
            <a:ext cx="1508760" cy="292608"/>
          </a:xfrm>
          <a:prstGeom prst="rect">
            <a:avLst/>
          </a:prstGeom>
          <a:solidFill>
            <a:srgbClr val="4ADE80">
              <a:alpha val="3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123176" y="262432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EXACTO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23176" y="2953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DE80"/>
                </a:solidFill>
              </a:rPr>
              <a:t>Solo factor 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429000"/>
            <a:ext cx="2651760" cy="105156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475488" y="3474720"/>
                <a:ext cx="86868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3474720"/>
                <a:ext cx="868680" cy="9601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1417320" y="34838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7 = 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17320" y="3813048"/>
            <a:ext cx="1508760" cy="292608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417320" y="38130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PERIÓDICO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417320" y="4142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Tiene factor 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18688" y="3429000"/>
            <a:ext cx="2651760" cy="1051560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31"/>
              <p:cNvSpPr/>
              <p:nvPr/>
            </p:nvSpPr>
            <p:spPr>
              <a:xfrm>
                <a:off x="3328416" y="3474720"/>
                <a:ext cx="86868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𝟒𝟎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6" y="3474720"/>
                <a:ext cx="868680" cy="960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32"/>
          <p:cNvSpPr/>
          <p:nvPr/>
        </p:nvSpPr>
        <p:spPr>
          <a:xfrm>
            <a:off x="4270248" y="34838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40 = 2³×5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70248" y="3813048"/>
            <a:ext cx="1508760" cy="292608"/>
          </a:xfrm>
          <a:prstGeom prst="rect">
            <a:avLst/>
          </a:prstGeom>
          <a:solidFill>
            <a:srgbClr val="4ADE80">
              <a:alpha val="3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270248" y="38130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EXACTO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270248" y="4142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DE80"/>
                </a:solidFill>
              </a:rPr>
              <a:t>Solo 2 y 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71616" y="3429000"/>
            <a:ext cx="2651760" cy="105156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 37"/>
              <p:cNvSpPr/>
              <p:nvPr/>
            </p:nvSpPr>
            <p:spPr>
              <a:xfrm>
                <a:off x="6181344" y="3474720"/>
                <a:ext cx="868680" cy="9601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s-ES" sz="28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800" b="1" i="1" dirty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39" name="Text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3474720"/>
                <a:ext cx="868680" cy="9601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38"/>
          <p:cNvSpPr/>
          <p:nvPr/>
        </p:nvSpPr>
        <p:spPr>
          <a:xfrm>
            <a:off x="7123176" y="34838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15 = 3×5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23176" y="3813048"/>
            <a:ext cx="1508760" cy="292608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7123176" y="38130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PERIÓDICO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123176" y="41422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Tiene factor 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Fracción Generatriz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Convertir cualquier decimal en fracción irreducible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70048" cy="3703320"/>
          </a:xfrm>
          <a:prstGeom prst="rect">
            <a:avLst/>
          </a:prstGeom>
          <a:solidFill>
            <a:srgbClr val="1C2340"/>
          </a:solidFill>
          <a:ln w="3175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70048" cy="43891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72B"/>
                </a:solidFill>
              </a:rPr>
              <a:t>DECIMAL EXACTO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" y="1600200"/>
            <a:ext cx="24505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Numerador: el número sin coma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Denominador: 1 seguido de tantos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ceros como cifras decimales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" y="2715768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75488" y="271576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→ 0,75 → 75 (sin coma)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3182112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5488" y="31821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→ 2 cifras decimales → /100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" y="3703320"/>
            <a:ext cx="2450592" cy="777240"/>
          </a:xfrm>
          <a:prstGeom prst="rect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475488" y="3703320"/>
                <a:ext cx="2450592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s-ES" sz="20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s-ES" sz="20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𝟎𝟎</m:t>
                        </m:r>
                      </m:den>
                    </m:f>
                    <m:r>
                      <a:rPr lang="es-ES" sz="2000" b="1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s-ES" sz="20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endParaRPr lang="en-US" sz="20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3703320"/>
                <a:ext cx="2450592" cy="777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3218688" y="1078992"/>
            <a:ext cx="2670048" cy="3703320"/>
          </a:xfrm>
          <a:prstGeom prst="rect">
            <a:avLst/>
          </a:prstGeom>
          <a:solidFill>
            <a:srgbClr val="1C2340"/>
          </a:solidFill>
          <a:ln w="317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218688" y="1078992"/>
            <a:ext cx="2670048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10128" y="1078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72B"/>
                </a:solidFill>
              </a:rPr>
              <a:t>PERIÓDICO PURO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28416" y="1600200"/>
            <a:ext cx="24505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Numerador: sin coma (hasta fin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del período) − parte entera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Denominador: tantos 9 como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cifras tenga el período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28416" y="2715768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328416" y="271576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→ 0,333… = 0,3̄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28416" y="3182112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328416" y="31821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→ (3 − 0) / 9 = 3/9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28416" y="3703320"/>
            <a:ext cx="2450592" cy="77724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21"/>
              <p:cNvSpPr/>
              <p:nvPr/>
            </p:nvSpPr>
            <p:spPr>
              <a:xfrm>
                <a:off x="3328416" y="3703320"/>
                <a:ext cx="2450592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000" b="1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sz="20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acc>
                    <m:r>
                      <a:rPr lang="es-ES" sz="2000" b="1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 </a:t>
                </a:r>
                <a:endParaRPr lang="en-US" sz="2000" dirty="0"/>
              </a:p>
            </p:txBody>
          </p:sp>
        </mc:Choice>
        <mc:Fallback>
          <p:sp>
            <p:nvSpPr>
              <p:cNvPr id="23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6" y="3703320"/>
                <a:ext cx="2450592" cy="7772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hape 22"/>
          <p:cNvSpPr/>
          <p:nvPr/>
        </p:nvSpPr>
        <p:spPr>
          <a:xfrm>
            <a:off x="6071616" y="1078992"/>
            <a:ext cx="2670048" cy="3703320"/>
          </a:xfrm>
          <a:prstGeom prst="rect">
            <a:avLst/>
          </a:prstGeom>
          <a:solidFill>
            <a:srgbClr val="1C2340"/>
          </a:solidFill>
          <a:ln w="317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071616" y="1078992"/>
            <a:ext cx="2670048" cy="4389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163056" y="1078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172B"/>
                </a:solidFill>
              </a:rPr>
              <a:t>PERIÓDICO MIXTO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81344" y="1600200"/>
            <a:ext cx="24505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Numerador: sin coma (hasta fin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del período) − anteperiodo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Denominador: tantos 9 como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cifras del período + tantos 0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</a:rPr>
              <a:t>como cifras del anteperiodo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81344" y="2715768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181344" y="271576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→ 0,53̄ = 0,5333…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81344" y="3182112"/>
            <a:ext cx="2450592" cy="384048"/>
          </a:xfrm>
          <a:prstGeom prst="rect">
            <a:avLst/>
          </a:prstGeom>
          <a:solidFill>
            <a:srgbClr val="232B4A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181344" y="318211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</a:rPr>
              <a:t>→ (53 − 5) / 90 = 48/90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81344" y="3703320"/>
            <a:ext cx="2450592" cy="777240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31"/>
              <p:cNvSpPr/>
              <p:nvPr/>
            </p:nvSpPr>
            <p:spPr>
              <a:xfrm>
                <a:off x="6181344" y="3703320"/>
                <a:ext cx="2450592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000" b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sz="2000" b="1" i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acc>
                      <m:accPr>
                        <m:chr m:val="̂"/>
                        <m:ctrlPr>
                          <a:rPr lang="en-U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2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acc>
                    <m:r>
                      <a:rPr lang="es-ES" sz="2000" b="1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s-ES" sz="2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3703320"/>
                <a:ext cx="2450592" cy="7772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PRACTICA: Halla la fracción generatriz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600200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75488" y="1207008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4ADE80">
              <a:alpha val="3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75488" y="1207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Exacto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600200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</a:rPr>
              <a:t>0,25</a:t>
            </a:r>
          </a:p>
        </p:txBody>
      </p:sp>
      <p:sp>
        <p:nvSpPr>
          <p:cNvPr id="8" name="Shape 6"/>
          <p:cNvSpPr/>
          <p:nvPr/>
        </p:nvSpPr>
        <p:spPr>
          <a:xfrm>
            <a:off x="475488" y="2194560"/>
            <a:ext cx="2432304" cy="384048"/>
          </a:xfrm>
          <a:prstGeom prst="rect">
            <a:avLst/>
          </a:prstGeom>
          <a:solidFill>
            <a:srgbClr val="4ADE80">
              <a:alpha val="22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475488" y="2194560"/>
                <a:ext cx="2432304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2194560"/>
                <a:ext cx="2432304" cy="384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3218688" y="1097280"/>
            <a:ext cx="2651760" cy="160020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328416" y="1207008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28416" y="1207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Per. Puro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3328416" y="1600200"/>
                <a:ext cx="2432304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0,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0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30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acc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6" y="1600200"/>
                <a:ext cx="2432304" cy="530352"/>
              </a:xfrm>
              <a:prstGeom prst="rect">
                <a:avLst/>
              </a:prstGeom>
              <a:blipFill>
                <a:blip r:embed="rId4"/>
                <a:stretch>
                  <a:fillRect t="-8046" b="-3448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3328416" y="2194560"/>
            <a:ext cx="2432304" cy="38404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3328416" y="2194560"/>
                <a:ext cx="2432304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6" y="2194560"/>
                <a:ext cx="2432304" cy="384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6093823" y="1097280"/>
            <a:ext cx="2651760" cy="160020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181344" y="1207008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181344" y="12070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Per. Puro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7"/>
              <p:cNvSpPr/>
              <p:nvPr/>
            </p:nvSpPr>
            <p:spPr>
              <a:xfrm>
                <a:off x="6181344" y="1600200"/>
                <a:ext cx="2432304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1,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30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acc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1600200"/>
                <a:ext cx="2432304" cy="530352"/>
              </a:xfrm>
              <a:prstGeom prst="rect">
                <a:avLst/>
              </a:prstGeom>
              <a:blipFill>
                <a:blip r:embed="rId6"/>
                <a:stretch>
                  <a:fillRect t="-8046" b="-3448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6181344" y="2194560"/>
            <a:ext cx="2432304" cy="384048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6181344" y="2194560"/>
                <a:ext cx="2432304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𝟏𝟑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s-E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2194560"/>
                <a:ext cx="2432304" cy="3840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356616" y="2880360"/>
            <a:ext cx="2651760" cy="1600200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75488" y="2990088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75488" y="29900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Per. Mixto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23"/>
              <p:cNvSpPr/>
              <p:nvPr/>
            </p:nvSpPr>
            <p:spPr>
              <a:xfrm>
                <a:off x="475488" y="3383280"/>
                <a:ext cx="2432304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0,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Arial Black" pitchFamily="34" charset="-122"/>
                            <a:cs typeface="Arial Black" pitchFamily="34" charset="-120"/>
                          </a:rPr>
                        </m:ctrlPr>
                      </m:accPr>
                      <m:e>
                        <m:r>
                          <a:rPr lang="es-ES" sz="30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Arial Black" pitchFamily="34" charset="-122"/>
                            <a:cs typeface="Arial Black" pitchFamily="34" charset="-120"/>
                          </a:rPr>
                          <m:t>𝟏𝟔</m:t>
                        </m:r>
                      </m:e>
                    </m:acc>
                  </m:oMath>
                </a14:m>
                <a:endParaRPr lang="en-US" sz="3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endParaRPr>
              </a:p>
            </p:txBody>
          </p:sp>
        </mc:Choice>
        <mc:Fallback xmlns=""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3383280"/>
                <a:ext cx="2432304" cy="530352"/>
              </a:xfrm>
              <a:prstGeom prst="rect">
                <a:avLst/>
              </a:prstGeom>
              <a:blipFill>
                <a:blip r:embed="rId8"/>
                <a:stretch>
                  <a:fillRect t="-6897" b="-3448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hape 24"/>
          <p:cNvSpPr/>
          <p:nvPr/>
        </p:nvSpPr>
        <p:spPr>
          <a:xfrm>
            <a:off x="475488" y="3977640"/>
            <a:ext cx="2432304" cy="384048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475488" y="3977640"/>
                <a:ext cx="2432304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3977640"/>
                <a:ext cx="2432304" cy="3840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3218688" y="2880360"/>
            <a:ext cx="2651760" cy="1600200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328416" y="2990088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328416" y="29900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Per. Mixto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29"/>
              <p:cNvSpPr/>
              <p:nvPr/>
            </p:nvSpPr>
            <p:spPr>
              <a:xfrm>
                <a:off x="3328416" y="3383280"/>
                <a:ext cx="2432304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0,</a:t>
                </a:r>
                <a14:m>
                  <m:oMath xmlns:m="http://schemas.openxmlformats.org/officeDocument/2006/math">
                    <m:r>
                      <a:rPr lang="es-ES" sz="3000" b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Arial Black" pitchFamily="34" charset="-122"/>
                        <a:cs typeface="Arial Black" pitchFamily="34" charset="-120"/>
                      </a:rPr>
                      <m:t>𝟖</m:t>
                    </m:r>
                    <m:acc>
                      <m:accPr>
                        <m:chr m:val="̂"/>
                        <m:ctrlPr>
                          <a:rPr lang="en-US" sz="30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Arial Black" pitchFamily="34" charset="-122"/>
                            <a:cs typeface="Arial Black" pitchFamily="34" charset="-120"/>
                          </a:rPr>
                        </m:ctrlPr>
                      </m:accPr>
                      <m:e>
                        <m:r>
                          <a:rPr lang="es-ES" sz="30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Arial Black" pitchFamily="34" charset="-122"/>
                            <a:cs typeface="Arial Black" pitchFamily="34" charset="-120"/>
                          </a:rPr>
                          <m:t>𝟑</m:t>
                        </m:r>
                      </m:e>
                    </m:acc>
                  </m:oMath>
                </a14:m>
                <a:endParaRPr lang="en-US" sz="3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endParaRPr>
              </a:p>
            </p:txBody>
          </p:sp>
        </mc:Choice>
        <mc:Fallback xmlns="">
          <p:sp>
            <p:nvSpPr>
              <p:cNvPr id="31" name="Tex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6" y="3383280"/>
                <a:ext cx="2432304" cy="530352"/>
              </a:xfrm>
              <a:prstGeom prst="rect">
                <a:avLst/>
              </a:prstGeom>
              <a:blipFill>
                <a:blip r:embed="rId10"/>
                <a:stretch>
                  <a:fillRect t="-6897" b="-3448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hape 30"/>
          <p:cNvSpPr/>
          <p:nvPr/>
        </p:nvSpPr>
        <p:spPr>
          <a:xfrm>
            <a:off x="3328416" y="3977640"/>
            <a:ext cx="2432304" cy="384048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31"/>
              <p:cNvSpPr/>
              <p:nvPr/>
            </p:nvSpPr>
            <p:spPr>
              <a:xfrm>
                <a:off x="3328416" y="3977640"/>
                <a:ext cx="2432304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𝟖𝟑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𝟕𝟓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6" y="3977640"/>
                <a:ext cx="2432304" cy="3840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hape 32"/>
          <p:cNvSpPr/>
          <p:nvPr/>
        </p:nvSpPr>
        <p:spPr>
          <a:xfrm>
            <a:off x="6071616" y="2880360"/>
            <a:ext cx="2651760" cy="1600200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181344" y="2990088"/>
            <a:ext cx="1280160" cy="320040"/>
          </a:xfrm>
          <a:prstGeom prst="roundRect">
            <a:avLst>
              <a:gd name="adj" fmla="val 17143"/>
            </a:avLst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181344" y="29900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Per. Mixto</a:t>
            </a:r>
            <a:endParaRPr lang="en-US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35"/>
              <p:cNvSpPr/>
              <p:nvPr/>
            </p:nvSpPr>
            <p:spPr>
              <a:xfrm>
                <a:off x="6181344" y="3383280"/>
                <a:ext cx="2432304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3</a:t>
                </a:r>
                <a:r>
                  <a:rPr lang="en-US" sz="2800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,2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0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sz="3000" b="1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acc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7" name="Text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3383280"/>
                <a:ext cx="2432304" cy="530352"/>
              </a:xfrm>
              <a:prstGeom prst="rect">
                <a:avLst/>
              </a:prstGeom>
              <a:blipFill>
                <a:blip r:embed="rId12"/>
                <a:stretch>
                  <a:fillRect t="-6897" b="-3448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36"/>
          <p:cNvSpPr/>
          <p:nvPr/>
        </p:nvSpPr>
        <p:spPr>
          <a:xfrm>
            <a:off x="6181344" y="3977640"/>
            <a:ext cx="2432304" cy="384048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 37"/>
              <p:cNvSpPr/>
              <p:nvPr/>
            </p:nvSpPr>
            <p:spPr>
              <a:xfrm>
                <a:off x="6181344" y="3977640"/>
                <a:ext cx="2432304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𝟑𝟐𝟓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𝟑𝟐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r>
                  <a:rPr lang="en-US" sz="12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𝟐𝟗𝟑</m:t>
                        </m:r>
                      </m:num>
                      <m:den>
                        <m:r>
                          <a:rPr lang="es-ES" sz="1200" b="1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𝟗𝟎</m:t>
                        </m:r>
                      </m:den>
                    </m:f>
                  </m:oMath>
                </a14:m>
                <a:r>
                  <a:rPr lang="en-US" sz="1200" b="1" dirty="0">
                    <a:solidFill>
                      <a:srgbClr val="FFFFFF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39" name="Text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344" y="3977640"/>
                <a:ext cx="2432304" cy="38404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C4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Resolución de problemas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993392" cy="2395728"/>
          </a:xfrm>
          <a:prstGeom prst="rect">
            <a:avLst/>
          </a:prstGeom>
          <a:solidFill>
            <a:srgbClr val="1C2340"/>
          </a:solidFill>
          <a:ln w="254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24128" y="960120"/>
            <a:ext cx="658368" cy="65836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4128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72B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75488" y="171907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" y="21762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</a:rPr>
              <a:t>LEE Y COMPRENDE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¿Qué me dan? ¿Qué me piden?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Usa un dibujo si ayuda.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59152" y="1965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1993392" cy="2395728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172968" y="960120"/>
            <a:ext cx="658368" cy="6583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172968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72B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24328" y="171907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24328" y="21762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</a:rPr>
              <a:t>ORGANIZA LOS DATOS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56032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Identifica las fracciones 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qué representan.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07992" y="1965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1993392" cy="2395728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321808" y="96012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321808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72B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73168" y="171907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73168" y="21762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OPERA PASO A PASO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56032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Aplica jerarquía de operaciones.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Simplifica en cada paso.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56832" y="1965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12280" y="914400"/>
            <a:ext cx="1993392" cy="2395728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7470648" y="960120"/>
            <a:ext cx="658368" cy="6583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470648" y="960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72B"/>
                </a:solidFill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22008" y="171907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22008" y="21762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</a:rPr>
              <a:t>COMPRUEBA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256032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¿El resultado tiene sentido?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</a:rPr>
              <a:t>¿Es lógico para el enunciado?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493008"/>
            <a:ext cx="8412480" cy="1325880"/>
          </a:xfrm>
          <a:prstGeom prst="rect">
            <a:avLst/>
          </a:prstGeom>
          <a:solidFill>
            <a:srgbClr val="232B4A"/>
          </a:solidFill>
          <a:ln w="254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65760" y="3493008"/>
            <a:ext cx="438912" cy="1325880"/>
          </a:xfrm>
          <a:prstGeom prst="rect">
            <a:avLst/>
          </a:prstGeom>
          <a:solidFill>
            <a:srgbClr val="F5C42A"/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365760" y="3493008"/>
            <a:ext cx="4389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2172B"/>
                </a:solidFill>
              </a:rPr>
              <a:t>Ej</a:t>
            </a:r>
            <a:r>
              <a:rPr lang="en-US" sz="1400" b="1" dirty="0">
                <a:solidFill>
                  <a:srgbClr val="12172B"/>
                </a:solidFill>
              </a:rPr>
              <a:t>.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31"/>
              <p:cNvSpPr/>
              <p:nvPr/>
            </p:nvSpPr>
            <p:spPr>
              <a:xfrm>
                <a:off x="896112" y="3547872"/>
                <a:ext cx="77724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50" b="1" dirty="0">
                    <a:solidFill>
                      <a:srgbClr val="FFFFFF"/>
                    </a:solidFill>
                  </a:rPr>
                  <a:t>Un </a:t>
                </a:r>
                <a:r>
                  <a:rPr lang="en-US" sz="1350" b="1" dirty="0" err="1">
                    <a:solidFill>
                      <a:srgbClr val="FFFFFF"/>
                    </a:solidFill>
                  </a:rPr>
                  <a:t>depósito</a:t>
                </a:r>
                <a:r>
                  <a:rPr lang="en-US" sz="1350" b="1" dirty="0">
                    <a:solidFill>
                      <a:srgbClr val="FFFFFF"/>
                    </a:solidFill>
                  </a:rPr>
                  <a:t> </a:t>
                </a:r>
                <a:r>
                  <a:rPr lang="en-US" sz="1350" b="1" dirty="0" err="1">
                    <a:solidFill>
                      <a:srgbClr val="FFFFFF"/>
                    </a:solidFill>
                  </a:rPr>
                  <a:t>tiene</a:t>
                </a:r>
                <a:r>
                  <a:rPr lang="en-US" sz="1350" b="1" dirty="0">
                    <a:solidFill>
                      <a:srgbClr val="FFFFFF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50" b="1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350" b="1" dirty="0">
                            <a:solidFill>
                              <a:srgbClr val="FFFFFF"/>
                            </a:solidFill>
                          </a:rPr>
                          <m:t>3</m:t>
                        </m:r>
                      </m:num>
                      <m:den>
                        <m:r>
                          <a:rPr lang="es-ES" sz="1350" b="1" dirty="0">
                            <a:solidFill>
                              <a:srgbClr val="FFFFFF"/>
                            </a:solidFill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sz="1350" b="1" dirty="0">
                    <a:solidFill>
                      <a:srgbClr val="FFFFFF"/>
                    </a:solidFill>
                  </a:rPr>
                  <a:t>  de capacidad. Añaden 120 L y </a:t>
                </a:r>
                <a:r>
                  <a:rPr lang="en-US" sz="1350" b="1" dirty="0" err="1">
                    <a:solidFill>
                      <a:srgbClr val="FFFFFF"/>
                    </a:solidFill>
                  </a:rPr>
                  <a:t>queda</a:t>
                </a:r>
                <a:r>
                  <a:rPr lang="en-US" sz="1350" b="1" dirty="0">
                    <a:solidFill>
                      <a:srgbClr val="FFFFFF"/>
                    </a:solidFill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50" b="1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350" b="1" dirty="0">
                            <a:solidFill>
                              <a:srgbClr val="FFFFFF"/>
                            </a:solidFill>
                          </a:rPr>
                          <m:t>𝟓</m:t>
                        </m:r>
                      </m:num>
                      <m:den>
                        <m:r>
                          <a:rPr lang="es-ES" sz="1350" b="1" dirty="0">
                            <a:solidFill>
                              <a:srgbClr val="FFFFFF"/>
                            </a:solidFill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sz="1350" b="1" dirty="0">
                    <a:solidFill>
                      <a:srgbClr val="FFFFFF"/>
                    </a:solidFill>
                  </a:rPr>
                  <a:t> . ¿Capacidad total?</a:t>
                </a:r>
                <a:endParaRPr lang="en-US" sz="1350" dirty="0"/>
              </a:p>
            </p:txBody>
          </p:sp>
        </mc:Choice>
        <mc:Fallback>
          <p:sp>
            <p:nvSpPr>
              <p:cNvPr id="33" name="Text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" y="3547872"/>
                <a:ext cx="7772400" cy="365760"/>
              </a:xfrm>
              <a:prstGeom prst="rect">
                <a:avLst/>
              </a:prstGeom>
              <a:blipFill>
                <a:blip r:embed="rId3"/>
                <a:stretch>
                  <a:fillRect l="-1333" b="-1000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 32"/>
              <p:cNvSpPr/>
              <p:nvPr/>
            </p:nvSpPr>
            <p:spPr>
              <a:xfrm>
                <a:off x="896112" y="4005072"/>
                <a:ext cx="777240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00" dirty="0">
                    <a:solidFill>
                      <a:srgbClr val="94A3B8"/>
                    </a:solidFill>
                  </a:rPr>
                  <a:t>Lo que falta: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00" dirty="0">
                            <a:solidFill>
                              <a:srgbClr val="94A3B8"/>
                            </a:solidFill>
                          </a:rPr>
                        </m:ctrlPr>
                      </m:fPr>
                      <m:num>
                        <m:r>
                          <a:rPr lang="es-ES" sz="1300" dirty="0">
                            <a:solidFill>
                              <a:srgbClr val="94A3B8"/>
                            </a:solidFill>
                          </a:rPr>
                          <m:t>𝟓</m:t>
                        </m:r>
                      </m:num>
                      <m:den>
                        <m:r>
                          <a:rPr lang="es-ES" sz="1300" dirty="0">
                            <a:solidFill>
                              <a:srgbClr val="94A3B8"/>
                            </a:solidFill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sz="1300" dirty="0">
                    <a:solidFill>
                      <a:srgbClr val="94A3B8"/>
                    </a:solidFill>
                  </a:rPr>
                  <a:t>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3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13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sz="1300" dirty="0">
                    <a:solidFill>
                      <a:srgbClr val="94A3B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3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300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sz="1300" dirty="0">
                    <a:solidFill>
                      <a:srgbClr val="94A3B8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3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3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300" dirty="0">
                    <a:solidFill>
                      <a:srgbClr val="94A3B8"/>
                    </a:solidFill>
                  </a:rPr>
                  <a:t>  →   </a:t>
                </a:r>
                <a:r>
                  <a:rPr lang="en-US" sz="1300" b="1" dirty="0">
                    <a:solidFill>
                      <a:srgbClr val="94A3B8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00" b="1" dirty="0">
                            <a:solidFill>
                              <a:srgbClr val="F59E0B"/>
                            </a:solidFill>
                          </a:rPr>
                        </m:ctrlPr>
                      </m:fPr>
                      <m:num>
                        <m:r>
                          <a:rPr lang="es-ES" sz="1300" b="1" i="1" dirty="0">
                            <a:solidFill>
                              <a:srgbClr val="F59E0B"/>
                            </a:solidFill>
                          </a:rPr>
                          <m:t>𝟏</m:t>
                        </m:r>
                      </m:num>
                      <m:den>
                        <m:r>
                          <a:rPr lang="es-ES" sz="1300" b="1" i="1" dirty="0">
                            <a:solidFill>
                              <a:srgbClr val="F59E0B"/>
                            </a:solidFill>
                          </a:rPr>
                          <m:t>𝟒</m:t>
                        </m:r>
                      </m:den>
                    </m:f>
                  </m:oMath>
                </a14:m>
                <a:r>
                  <a:rPr lang="en-US" sz="1300" b="1" dirty="0">
                    <a:solidFill>
                      <a:srgbClr val="F59E0B"/>
                    </a:solidFill>
                  </a:rPr>
                  <a:t>  del depósito = 120 L   →   </a:t>
                </a:r>
                <a:r>
                  <a:rPr lang="en-US" sz="1400" b="1" dirty="0">
                    <a:solidFill>
                      <a:srgbClr val="4ADE80"/>
                    </a:solidFill>
                  </a:rPr>
                  <a:t>Total = 120 × 4 = 480 L  ✓</a:t>
                </a:r>
                <a:endParaRPr lang="en-US" sz="1300" dirty="0"/>
              </a:p>
            </p:txBody>
          </p:sp>
        </mc:Choice>
        <mc:Fallback>
          <p:sp>
            <p:nvSpPr>
              <p:cNvPr id="34" name="Text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" y="4005072"/>
                <a:ext cx="7772400" cy="685800"/>
              </a:xfrm>
              <a:prstGeom prst="rect">
                <a:avLst/>
              </a:prstGeom>
              <a:blipFill>
                <a:blip r:embed="rId4"/>
                <a:stretch>
                  <a:fillRect l="-1255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33"/>
          <p:cNvSpPr/>
          <p:nvPr/>
        </p:nvSpPr>
        <p:spPr>
          <a:xfrm>
            <a:off x="6858000" y="4800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aprendemates.kesug.com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5C42A"/>
          </a:solidFill>
          <a:ln w="12700">
            <a:solidFill>
              <a:srgbClr val="F5C4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17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RESUMEN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24912" cy="1810512"/>
          </a:xfrm>
          <a:prstGeom prst="rect">
            <a:avLst/>
          </a:prstGeom>
          <a:solidFill>
            <a:srgbClr val="1C2340"/>
          </a:solidFill>
          <a:ln w="254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24912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FRACCIONES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384048" y="1417320"/>
                <a:ext cx="2505456" cy="12618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spcAft>
                    <a:spcPts val="4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s-ES" sz="12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rgbClr val="94A3B8"/>
                    </a:solidFill>
                  </a:rPr>
                  <a:t>  con q≠0</a:t>
                </a:r>
                <a:endParaRPr lang="en-US" sz="1200" dirty="0"/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200" dirty="0">
                    <a:solidFill>
                      <a:srgbClr val="94A3B8"/>
                    </a:solidFill>
                  </a:rPr>
                  <a:t>Equivalentes: ×÷ mismo nº</a:t>
                </a:r>
                <a:endParaRPr lang="en-US" sz="1200" dirty="0"/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200" dirty="0">
                    <a:solidFill>
                      <a:srgbClr val="94A3B8"/>
                    </a:solidFill>
                  </a:rPr>
                  <a:t>Irreducible: ÷ MCD</a:t>
                </a:r>
                <a:endParaRPr lang="en-US" sz="12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1417320"/>
                <a:ext cx="2505456" cy="1261872"/>
              </a:xfrm>
              <a:prstGeom prst="rect">
                <a:avLst/>
              </a:prstGeom>
              <a:blipFill>
                <a:blip r:embed="rId3"/>
                <a:stretch>
                  <a:fillRect l="-365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3154680" y="960120"/>
            <a:ext cx="2724912" cy="1810512"/>
          </a:xfrm>
          <a:prstGeom prst="rect">
            <a:avLst/>
          </a:prstGeom>
          <a:solidFill>
            <a:srgbClr val="1C2340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24912" cy="3840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46120" y="9601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OPERACIONES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417320"/>
            <a:ext cx="25054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+ − : reducir a MCM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× : num×num / den×den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÷ : multiplicar por la inversa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724912" cy="1810512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72491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26480" y="9601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POTENCIAS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6144768" y="1417320"/>
                <a:ext cx="2505456" cy="12618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spcAft>
                    <a:spcPts val="4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200">
                            <a:solidFill>
                              <a:srgbClr val="94A3B8"/>
                            </a:solidFill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>
                                <a:solidFill>
                                  <a:srgbClr val="94A3B8"/>
                                </a:solidFill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00">
                                    <a:solidFill>
                                      <a:srgbClr val="94A3B8"/>
                                    </a:solidFill>
                                  </a:rPr>
                                </m:ctrlPr>
                              </m:fPr>
                              <m:num>
                                <m:r>
                                  <a:rPr lang="es-ES" sz="1200">
                                    <a:solidFill>
                                      <a:srgbClr val="94A3B8"/>
                                    </a:solidFill>
                                  </a:rPr>
                                  <m:t>𝒂</m:t>
                                </m:r>
                              </m:num>
                              <m:den>
                                <m:r>
                                  <a:rPr lang="es-ES" sz="1200">
                                    <a:solidFill>
                                      <a:srgbClr val="94A3B8"/>
                                    </a:solidFill>
                                  </a:rPr>
                                  <m:t>𝒃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00">
                            <a:solidFill>
                              <a:srgbClr val="94A3B8"/>
                            </a:solidFill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rgbClr val="94A3B8"/>
                    </a:solidFill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>
                            <a:solidFill>
                              <a:srgbClr val="94A3B8"/>
                            </a:solidFill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sz="1200">
                                <a:solidFill>
                                  <a:srgbClr val="94A3B8"/>
                                </a:solidFill>
                              </a:rPr>
                            </m:ctrlPr>
                          </m:sSupPr>
                          <m:e>
                            <m:r>
                              <a:rPr lang="es-ES" sz="1200">
                                <a:solidFill>
                                  <a:srgbClr val="94A3B8"/>
                                </a:solidFill>
                              </a:rPr>
                              <m:t>𝒂</m:t>
                            </m:r>
                          </m:e>
                          <m:sup>
                            <m:r>
                              <a:rPr lang="es-ES" sz="1200">
                                <a:solidFill>
                                  <a:srgbClr val="94A3B8"/>
                                </a:solidFill>
                              </a:rPr>
                              <m:t>𝒏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s-ES" sz="1200">
                                <a:solidFill>
                                  <a:srgbClr val="94A3B8"/>
                                </a:solidFill>
                              </a:rPr>
                            </m:ctrlPr>
                          </m:sSupPr>
                          <m:e>
                            <m:r>
                              <a:rPr lang="es-ES" sz="1200">
                                <a:solidFill>
                                  <a:srgbClr val="94A3B8"/>
                                </a:solidFill>
                              </a:rPr>
                              <m:t>𝒃</m:t>
                            </m:r>
                          </m:e>
                          <m:sup>
                            <m:r>
                              <a:rPr lang="es-ES" sz="1200">
                                <a:solidFill>
                                  <a:srgbClr val="94A3B8"/>
                                </a:solidFill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lang="es-ES" sz="1200">
                        <a:solidFill>
                          <a:srgbClr val="94A3B8"/>
                        </a:solidFill>
                      </a:rPr>
                      <m:t> </m:t>
                    </m:r>
                  </m:oMath>
                </a14:m>
                <a:endParaRPr lang="es-ES" sz="1200" dirty="0">
                  <a:solidFill>
                    <a:srgbClr val="94A3B8"/>
                  </a:solidFill>
                </a:endParaRPr>
              </a:p>
              <a:p>
                <a:pPr>
                  <a:spcAft>
                    <a:spcPts val="400"/>
                  </a:spcAft>
                </a:pPr>
                <a:r>
                  <a:rPr lang="en-US" sz="1200" dirty="0">
                    <a:solidFill>
                      <a:srgbClr val="94A3B8"/>
                    </a:solidFill>
                  </a:rPr>
                  <a:t>Base neg + exp par → +</a:t>
                </a:r>
                <a:endParaRPr lang="en-US" sz="1200" dirty="0"/>
              </a:p>
              <a:p>
                <a:pPr marL="0" indent="0">
                  <a:spcAft>
                    <a:spcPts val="400"/>
                  </a:spcAft>
                  <a:buNone/>
                </a:pPr>
                <a:r>
                  <a:rPr lang="en-US" sz="1200" dirty="0">
                    <a:solidFill>
                      <a:srgbClr val="94A3B8"/>
                    </a:solidFill>
                  </a:rPr>
                  <a:t>Base neg + exp impar → −</a:t>
                </a:r>
                <a:endParaRPr lang="en-US" sz="1200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768" y="1417320"/>
                <a:ext cx="2505456" cy="1261872"/>
              </a:xfrm>
              <a:prstGeom prst="rect">
                <a:avLst/>
              </a:prstGeom>
              <a:blipFill>
                <a:blip r:embed="rId4"/>
                <a:stretch>
                  <a:fillRect l="-3650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274320" y="2926080"/>
            <a:ext cx="2724912" cy="1810512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24912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TIPOS DECIMALES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383280"/>
            <a:ext cx="25054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Exacto: cifras limitadas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Per. puro: período desde coma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Per. mixto: hay anteperiodo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926080"/>
            <a:ext cx="2724912" cy="1810512"/>
          </a:xfrm>
          <a:prstGeom prst="rect">
            <a:avLst/>
          </a:prstGeom>
          <a:solidFill>
            <a:srgbClr val="1C2340"/>
          </a:solidFill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154680" y="2926080"/>
            <a:ext cx="2724912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46120" y="29260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FRACCIÓN GENERATRIZ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64408" y="3383280"/>
            <a:ext cx="25054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Exacto → /10ⁿ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Puro: (nº−ent) / 9s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Mixto: (nº−antep) / 9s0s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724912" cy="1810512"/>
          </a:xfrm>
          <a:prstGeom prst="rect">
            <a:avLst/>
          </a:prstGeom>
          <a:solidFill>
            <a:srgbClr val="1C2340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272491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126480" y="29260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172B"/>
                </a:solidFill>
              </a:rPr>
              <a:t>PROBLEMAS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44768" y="3383280"/>
            <a:ext cx="25054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1. Lee y comprende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2. Opera con jerarquía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3. Simplifica y comprueba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7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¿Cuánto has aprendido?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114300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72B"/>
                </a:solidFill>
              </a:rPr>
              <a:t>1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1188720" y="1143000"/>
                <a:ext cx="457200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50" dirty="0">
                    <a:solidFill>
                      <a:srgbClr val="FFFFFF"/>
                    </a:solidFill>
                  </a:rPr>
                  <a:t>Ana gasta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50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250" dirty="0">
                            <a:solidFill>
                              <a:srgbClr val="FFFFFF"/>
                            </a:solidFill>
                          </a:rPr>
                          <m:t>1</m:t>
                        </m:r>
                      </m:num>
                      <m:den>
                        <m:r>
                          <a:rPr lang="es-ES" sz="1250" dirty="0">
                            <a:solidFill>
                              <a:srgbClr val="FFFFFF"/>
                            </a:solidFill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 de su dinero en libros 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50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250" dirty="0">
                            <a:solidFill>
                              <a:srgbClr val="FFFFFF"/>
                            </a:solidFill>
                          </a:rPr>
                          <m:t>2</m:t>
                        </m:r>
                      </m:num>
                      <m:den>
                        <m:r>
                          <a:rPr lang="es-ES" sz="1250" dirty="0">
                            <a:solidFill>
                              <a:srgbClr val="FFFFFF"/>
                            </a:solidFill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 en ropa.</a:t>
                </a:r>
                <a:endParaRPr lang="en-US" sz="1250" dirty="0"/>
              </a:p>
              <a:p>
                <a:pPr marL="0" indent="0">
                  <a:buNone/>
                </a:pPr>
                <a:r>
                  <a:rPr lang="en-US" sz="1250" dirty="0">
                    <a:solidFill>
                      <a:srgbClr val="FFFFFF"/>
                    </a:solidFill>
                  </a:rPr>
                  <a:t>Le quedan 44 €. ¿Cuánto tenía?</a:t>
                </a:r>
                <a:endParaRPr lang="en-US" sz="125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1143000"/>
                <a:ext cx="4572000" cy="658368"/>
              </a:xfrm>
              <a:prstGeom prst="rect">
                <a:avLst/>
              </a:prstGeom>
              <a:blipFill>
                <a:blip r:embed="rId3"/>
                <a:stretch>
                  <a:fillRect l="-213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1188720" y="1828800"/>
                <a:ext cx="43891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100" i="1" dirty="0">
                    <a:solidFill>
                      <a:srgbClr val="94A3B8"/>
                    </a:solidFill>
                  </a:rPr>
                  <a:t>Pista: ¿Qué fracción le queda? → 1 −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100" i="1" dirty="0">
                    <a:solidFill>
                      <a:srgbClr val="94A3B8"/>
                    </a:solidFill>
                  </a:rPr>
                  <a:t>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1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100" i="1" dirty="0">
                    <a:solidFill>
                      <a:srgbClr val="94A3B8"/>
                    </a:solidFill>
                  </a:rPr>
                  <a:t> = ?</a:t>
                </a:r>
                <a:endParaRPr lang="en-US" sz="11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1828800"/>
                <a:ext cx="4389120" cy="320040"/>
              </a:xfrm>
              <a:prstGeom prst="rect">
                <a:avLst/>
              </a:prstGeom>
              <a:blipFill>
                <a:blip r:embed="rId4"/>
                <a:stretch>
                  <a:fillRect l="-1944" b="-1887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5870448" y="1261872"/>
            <a:ext cx="2816352" cy="777240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65760" y="2340864"/>
            <a:ext cx="8412480" cy="1143000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621792" cy="6217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72B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40487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Halla la fracción generatriz de 0,583̄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(decimal periódico mixto)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3090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Pista: anteperiodo = 58, período = 3 → /90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70448" y="2523744"/>
            <a:ext cx="2816352" cy="777240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8412480" cy="1143000"/>
          </a:xfrm>
          <a:prstGeom prst="rect">
            <a:avLst/>
          </a:prstGeom>
          <a:solidFill>
            <a:srgbClr val="1C2340"/>
          </a:solidFill>
          <a:ln w="254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621792" cy="6217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72B"/>
                </a:solidFill>
              </a:rPr>
              <a:t>3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1188720" y="3666744"/>
                <a:ext cx="457200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50" dirty="0">
                    <a:solidFill>
                      <a:srgbClr val="FFFFFF"/>
                    </a:solidFill>
                  </a:rPr>
                  <a:t>Calcula respetando la jerarquía:</a:t>
                </a:r>
                <a:endParaRPr lang="en-US" sz="125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250">
                            <a:solidFill>
                              <a:srgbClr val="FFFFFF"/>
                            </a:solidFill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50">
                                <a:solidFill>
                                  <a:srgbClr val="FFFFFF"/>
                                </a:solidFill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50">
                                    <a:solidFill>
                                      <a:srgbClr val="FFFFFF"/>
                                    </a:solidFill>
                                  </a:rPr>
                                </m:ctrlPr>
                              </m:fPr>
                              <m:num>
                                <m:r>
                                  <a:rPr lang="es-ES" sz="1250">
                                    <a:solidFill>
                                      <a:srgbClr val="FFFFFF"/>
                                    </a:solidFill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s-ES" sz="1250">
                                    <a:solidFill>
                                      <a:srgbClr val="FFFFFF"/>
                                    </a:solidFill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50">
                            <a:solidFill>
                              <a:srgbClr val="FFFFFF"/>
                            </a:solidFill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>
                            <a:solidFill>
                              <a:srgbClr val="FFFFFF"/>
                            </a:solidFill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50">
                                <a:solidFill>
                                  <a:srgbClr val="FFFFFF"/>
                                </a:solidFill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50">
                                    <a:solidFill>
                                      <a:srgbClr val="FFFFFF"/>
                                    </a:solidFill>
                                  </a:rPr>
                                </m:ctrlPr>
                              </m:fPr>
                              <m:num>
                                <m:r>
                                  <a:rPr lang="es-ES" sz="1250">
                                    <a:solidFill>
                                      <a:srgbClr val="FFFFFF"/>
                                    </a:solidFill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s-ES" sz="1250">
                                    <a:solidFill>
                                      <a:srgbClr val="FFFFFF"/>
                                    </a:solidFill>
                                  </a:rPr>
                                  <m:t>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50">
                            <a:solidFill>
                              <a:srgbClr val="FFFFFF"/>
                            </a:solidFill>
                          </a:rPr>
                          <m:t>−</m:t>
                        </m:r>
                        <m:r>
                          <a:rPr lang="es-ES" sz="1250">
                            <a:solidFill>
                              <a:srgbClr val="FFFFFF"/>
                            </a:solidFill>
                          </a:rPr>
                          <m:t>𝟐</m:t>
                        </m:r>
                      </m:sup>
                    </m:sSup>
                    <m:r>
                      <a:rPr lang="es-ES" sz="1250">
                        <a:solidFill>
                          <a:srgbClr val="FFFFFF"/>
                        </a:solidFill>
                      </a:rPr>
                      <m:t> </m:t>
                    </m:r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50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250" dirty="0">
                            <a:solidFill>
                              <a:srgbClr val="FFFFFF"/>
                            </a:solidFill>
                          </a:rPr>
                          <m:t>1</m:t>
                        </m:r>
                      </m:num>
                      <m:den>
                        <m:r>
                          <a:rPr lang="es-ES" sz="125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666744"/>
                <a:ext cx="4572000" cy="658368"/>
              </a:xfrm>
              <a:prstGeom prst="rect">
                <a:avLst/>
              </a:prstGeom>
              <a:blipFill>
                <a:blip r:embed="rId5"/>
                <a:stretch>
                  <a:fillRect l="-213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0"/>
          <p:cNvSpPr/>
          <p:nvPr/>
        </p:nvSpPr>
        <p:spPr>
          <a:xfrm>
            <a:off x="1188720" y="43525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Pista: Primero las potencias, luego ×, luego 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70448" y="3785616"/>
            <a:ext cx="2816352" cy="777240"/>
          </a:xfrm>
          <a:prstGeom prst="rect">
            <a:avLst/>
          </a:prstGeom>
          <a:solidFill>
            <a:srgbClr val="60A5FA">
              <a:alpha val="22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27412-B8C5-E785-68D6-2A99A1F8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674D47-EA58-9E6E-FBDE-8AE13E707D0B}"/>
              </a:ext>
            </a:extLst>
          </p:cNvPr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6A0DE1-7C9F-8662-8641-79ADEE26D512}"/>
              </a:ext>
            </a:extLst>
          </p:cNvPr>
          <p:cNvSpPr/>
          <p:nvPr/>
        </p:nvSpPr>
        <p:spPr>
          <a:xfrm>
            <a:off x="365760" y="0"/>
            <a:ext cx="8412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7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¿Cuánto has aprendido?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6BAB53A-BD03-7371-20D0-C4561BAFEEE8}"/>
              </a:ext>
            </a:extLst>
          </p:cNvPr>
          <p:cNvSpPr/>
          <p:nvPr/>
        </p:nvSpPr>
        <p:spPr>
          <a:xfrm>
            <a:off x="365760" y="1078992"/>
            <a:ext cx="8412480" cy="1143000"/>
          </a:xfrm>
          <a:prstGeom prst="rect">
            <a:avLst/>
          </a:prstGeom>
          <a:solidFill>
            <a:srgbClr val="1C234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DC1B3B-A5C2-DF9F-DE76-60B1BEEEEA9E}"/>
              </a:ext>
            </a:extLst>
          </p:cNvPr>
          <p:cNvSpPr/>
          <p:nvPr/>
        </p:nvSpPr>
        <p:spPr>
          <a:xfrm>
            <a:off x="457200" y="1325880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C4A4DA-9649-1D2A-1A07-9A6E448361E3}"/>
              </a:ext>
            </a:extLst>
          </p:cNvPr>
          <p:cNvSpPr/>
          <p:nvPr/>
        </p:nvSpPr>
        <p:spPr>
          <a:xfrm>
            <a:off x="457200" y="13258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72B"/>
                </a:solidFill>
              </a:rPr>
              <a:t>1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F76C5AE8-1F9A-A431-ECC0-2CF79564527A}"/>
                  </a:ext>
                </a:extLst>
              </p:cNvPr>
              <p:cNvSpPr/>
              <p:nvPr/>
            </p:nvSpPr>
            <p:spPr>
              <a:xfrm>
                <a:off x="1188720" y="1143000"/>
                <a:ext cx="457200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50" dirty="0">
                    <a:solidFill>
                      <a:srgbClr val="FFFFFF"/>
                    </a:solidFill>
                  </a:rPr>
                  <a:t>Ana gasta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5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5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25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 de su dinero en libros 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5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5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25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 en ropa.</a:t>
                </a:r>
                <a:endParaRPr lang="en-US" sz="1250" dirty="0"/>
              </a:p>
              <a:p>
                <a:pPr marL="0" indent="0">
                  <a:buNone/>
                </a:pPr>
                <a:r>
                  <a:rPr lang="en-US" sz="1250" dirty="0">
                    <a:solidFill>
                      <a:srgbClr val="FFFFFF"/>
                    </a:solidFill>
                  </a:rPr>
                  <a:t>Le quedan 44 €. ¿Cuánto tenía?</a:t>
                </a:r>
                <a:endParaRPr lang="en-US" sz="1250" dirty="0"/>
              </a:p>
            </p:txBody>
          </p:sp>
        </mc:Choice>
        <mc:Fallback>
          <p:sp>
            <p:nvSpPr>
              <p:cNvPr id="7" name="Text 5">
                <a:extLst>
                  <a:ext uri="{FF2B5EF4-FFF2-40B4-BE49-F238E27FC236}">
                    <a16:creationId xmlns:a16="http://schemas.microsoft.com/office/drawing/2014/main" id="{F76C5AE8-1F9A-A431-ECC0-2CF7956452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1143000"/>
                <a:ext cx="4572000" cy="658368"/>
              </a:xfrm>
              <a:prstGeom prst="rect">
                <a:avLst/>
              </a:prstGeom>
              <a:blipFill>
                <a:blip r:embed="rId3"/>
                <a:stretch>
                  <a:fillRect l="-213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F64AEF7F-0375-429F-CCB3-500C233FD9B4}"/>
                  </a:ext>
                </a:extLst>
              </p:cNvPr>
              <p:cNvSpPr/>
              <p:nvPr/>
            </p:nvSpPr>
            <p:spPr>
              <a:xfrm>
                <a:off x="1188720" y="1828800"/>
                <a:ext cx="438912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100" i="1" dirty="0">
                    <a:solidFill>
                      <a:srgbClr val="94A3B8"/>
                    </a:solidFill>
                  </a:rPr>
                  <a:t>Pista: ¿Qué fracción le queda? → 1 −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1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100" i="1" dirty="0">
                    <a:solidFill>
                      <a:srgbClr val="94A3B8"/>
                    </a:solidFill>
                  </a:rPr>
                  <a:t> 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i="1" dirty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1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100" b="0" i="1" dirty="0" smtClean="0">
                            <a:solidFill>
                              <a:srgbClr val="94A3B8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1100" i="1" dirty="0">
                    <a:solidFill>
                      <a:srgbClr val="94A3B8"/>
                    </a:solidFill>
                  </a:rPr>
                  <a:t> = ?</a:t>
                </a:r>
                <a:endParaRPr lang="en-US" sz="1100" dirty="0"/>
              </a:p>
            </p:txBody>
          </p:sp>
        </mc:Choice>
        <mc:Fallback>
          <p:sp>
            <p:nvSpPr>
              <p:cNvPr id="8" name="Text 6">
                <a:extLst>
                  <a:ext uri="{FF2B5EF4-FFF2-40B4-BE49-F238E27FC236}">
                    <a16:creationId xmlns:a16="http://schemas.microsoft.com/office/drawing/2014/main" id="{F64AEF7F-0375-429F-CCB3-500C233FD9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1828800"/>
                <a:ext cx="4389120" cy="320040"/>
              </a:xfrm>
              <a:prstGeom prst="rect">
                <a:avLst/>
              </a:prstGeom>
              <a:blipFill>
                <a:blip r:embed="rId4"/>
                <a:stretch>
                  <a:fillRect l="-1944" b="-1887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>
            <a:extLst>
              <a:ext uri="{FF2B5EF4-FFF2-40B4-BE49-F238E27FC236}">
                <a16:creationId xmlns:a16="http://schemas.microsoft.com/office/drawing/2014/main" id="{D6B5A9C8-1436-51E2-E967-A9531CCD90BE}"/>
              </a:ext>
            </a:extLst>
          </p:cNvPr>
          <p:cNvSpPr/>
          <p:nvPr/>
        </p:nvSpPr>
        <p:spPr>
          <a:xfrm>
            <a:off x="5870448" y="1261872"/>
            <a:ext cx="2816352" cy="777240"/>
          </a:xfrm>
          <a:prstGeom prst="rect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F7F6340-BB8F-1D67-6900-A868901E437A}"/>
              </a:ext>
            </a:extLst>
          </p:cNvPr>
          <p:cNvSpPr/>
          <p:nvPr/>
        </p:nvSpPr>
        <p:spPr>
          <a:xfrm>
            <a:off x="365760" y="2340864"/>
            <a:ext cx="8412480" cy="1143000"/>
          </a:xfrm>
          <a:prstGeom prst="rect">
            <a:avLst/>
          </a:prstGeom>
          <a:solidFill>
            <a:srgbClr val="1C2340"/>
          </a:solidFill>
          <a:ln w="254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1453BDF-CC3E-3B02-8FF6-58AD5F364B0E}"/>
              </a:ext>
            </a:extLst>
          </p:cNvPr>
          <p:cNvSpPr/>
          <p:nvPr/>
        </p:nvSpPr>
        <p:spPr>
          <a:xfrm>
            <a:off x="457200" y="2587752"/>
            <a:ext cx="621792" cy="6217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71763E7-F3F7-D5CE-4715-D9A564DF8E3F}"/>
              </a:ext>
            </a:extLst>
          </p:cNvPr>
          <p:cNvSpPr/>
          <p:nvPr/>
        </p:nvSpPr>
        <p:spPr>
          <a:xfrm>
            <a:off x="457200" y="2587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72B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BA44DA8-22DC-A233-FB9D-937169F42A96}"/>
              </a:ext>
            </a:extLst>
          </p:cNvPr>
          <p:cNvSpPr/>
          <p:nvPr/>
        </p:nvSpPr>
        <p:spPr>
          <a:xfrm>
            <a:off x="1188720" y="240487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Halla la fracción generatriz de 0,583̄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(decimal periódico mixto)</a:t>
            </a:r>
            <a:endParaRPr lang="en-US" sz="12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837A4A7-2434-564B-4E35-809F2DF076BD}"/>
              </a:ext>
            </a:extLst>
          </p:cNvPr>
          <p:cNvSpPr/>
          <p:nvPr/>
        </p:nvSpPr>
        <p:spPr>
          <a:xfrm>
            <a:off x="1188720" y="3090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Pista: anteperiodo = 58, período = 3 → /90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C9DBB6C-F984-9303-A535-5ED1B24F2DA7}"/>
              </a:ext>
            </a:extLst>
          </p:cNvPr>
          <p:cNvSpPr/>
          <p:nvPr/>
        </p:nvSpPr>
        <p:spPr>
          <a:xfrm>
            <a:off x="5870448" y="2523744"/>
            <a:ext cx="2816352" cy="777240"/>
          </a:xfrm>
          <a:prstGeom prst="rect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4C8F275-14E0-2EA3-FF86-B337F8584238}"/>
              </a:ext>
            </a:extLst>
          </p:cNvPr>
          <p:cNvSpPr/>
          <p:nvPr/>
        </p:nvSpPr>
        <p:spPr>
          <a:xfrm>
            <a:off x="365760" y="3602736"/>
            <a:ext cx="8412480" cy="1143000"/>
          </a:xfrm>
          <a:prstGeom prst="rect">
            <a:avLst/>
          </a:prstGeom>
          <a:solidFill>
            <a:srgbClr val="1C2340"/>
          </a:solidFill>
          <a:ln w="25400">
            <a:solidFill>
              <a:srgbClr val="60A5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0FBD9FA-330E-0CE3-5EB3-DFA00BD68F5B}"/>
              </a:ext>
            </a:extLst>
          </p:cNvPr>
          <p:cNvSpPr/>
          <p:nvPr/>
        </p:nvSpPr>
        <p:spPr>
          <a:xfrm>
            <a:off x="457200" y="3849624"/>
            <a:ext cx="621792" cy="6217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499FB25-16DE-58F3-095C-22DDD027F825}"/>
              </a:ext>
            </a:extLst>
          </p:cNvPr>
          <p:cNvSpPr/>
          <p:nvPr/>
        </p:nvSpPr>
        <p:spPr>
          <a:xfrm>
            <a:off x="457200" y="38496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172B"/>
                </a:solidFill>
              </a:rPr>
              <a:t>3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DF21A28B-835B-0F2C-E565-6210627712B9}"/>
                  </a:ext>
                </a:extLst>
              </p:cNvPr>
              <p:cNvSpPr/>
              <p:nvPr/>
            </p:nvSpPr>
            <p:spPr>
              <a:xfrm>
                <a:off x="1188720" y="3666744"/>
                <a:ext cx="4572000" cy="6583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50" dirty="0">
                    <a:solidFill>
                      <a:srgbClr val="FFFFFF"/>
                    </a:solidFill>
                  </a:rPr>
                  <a:t>Calcula respetando la jerarquía:</a:t>
                </a:r>
                <a:endParaRPr lang="en-US" sz="125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25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5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5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25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s-ES" sz="125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5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 ×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5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5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25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25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s-ES" sz="125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s-ES" sz="125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25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125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+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5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250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125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250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1" name="Text 19">
                <a:extLst>
                  <a:ext uri="{FF2B5EF4-FFF2-40B4-BE49-F238E27FC236}">
                    <a16:creationId xmlns:a16="http://schemas.microsoft.com/office/drawing/2014/main" id="{DF21A28B-835B-0F2C-E565-621062771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666744"/>
                <a:ext cx="4572000" cy="658368"/>
              </a:xfrm>
              <a:prstGeom prst="rect">
                <a:avLst/>
              </a:prstGeom>
              <a:blipFill>
                <a:blip r:embed="rId5"/>
                <a:stretch>
                  <a:fillRect l="-2133"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0">
            <a:extLst>
              <a:ext uri="{FF2B5EF4-FFF2-40B4-BE49-F238E27FC236}">
                <a16:creationId xmlns:a16="http://schemas.microsoft.com/office/drawing/2014/main" id="{7792DEC7-B340-6C51-246B-B53F55C9A347}"/>
              </a:ext>
            </a:extLst>
          </p:cNvPr>
          <p:cNvSpPr/>
          <p:nvPr/>
        </p:nvSpPr>
        <p:spPr>
          <a:xfrm>
            <a:off x="1188720" y="43525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Pista: Primero las potencias, luego ×, luego +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71E8E8E-08AA-B199-6FCE-78EC280B4C0C}"/>
              </a:ext>
            </a:extLst>
          </p:cNvPr>
          <p:cNvSpPr/>
          <p:nvPr/>
        </p:nvSpPr>
        <p:spPr>
          <a:xfrm>
            <a:off x="5870448" y="3785616"/>
            <a:ext cx="2816352" cy="777240"/>
          </a:xfrm>
          <a:prstGeom prst="rect">
            <a:avLst/>
          </a:prstGeom>
          <a:solidFill>
            <a:srgbClr val="60A5FA">
              <a:alpha val="22000"/>
            </a:srgbClr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98522A-1394-0434-9396-5B4D71FAE4EC}"/>
              </a:ext>
            </a:extLst>
          </p:cNvPr>
          <p:cNvSpPr/>
          <p:nvPr/>
        </p:nvSpPr>
        <p:spPr>
          <a:xfrm>
            <a:off x="5952744" y="125599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Solución</a:t>
            </a:r>
            <a:r>
              <a:rPr lang="en-US" sz="1200" b="1" dirty="0">
                <a:solidFill>
                  <a:srgbClr val="FFFFFF"/>
                </a:solidFill>
              </a:rPr>
              <a:t>: 165 €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15">
                <a:extLst>
                  <a:ext uri="{FF2B5EF4-FFF2-40B4-BE49-F238E27FC236}">
                    <a16:creationId xmlns:a16="http://schemas.microsoft.com/office/drawing/2014/main" id="{226D2EEA-7120-B97B-11AC-564C55C4AF2A}"/>
                  </a:ext>
                </a:extLst>
              </p:cNvPr>
              <p:cNvSpPr/>
              <p:nvPr/>
            </p:nvSpPr>
            <p:spPr>
              <a:xfrm>
                <a:off x="5943600" y="2523744"/>
                <a:ext cx="26517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</a:rPr>
                  <a:t>Solución: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583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num>
                      <m:den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</a:t>
                </a:r>
                <a:r>
                  <a:rPr lang="en-US" sz="1600" b="1" dirty="0">
                    <a:solidFill>
                      <a:srgbClr val="FFFFFF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525</m:t>
                        </m:r>
                      </m:num>
                      <m:den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900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FFFF"/>
                    </a:solidFill>
                  </a:rPr>
                  <a:t> </a:t>
                </a:r>
                <a:r>
                  <a:rPr lang="en-US" sz="16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s-ES" sz="1600" b="0" i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1200" dirty="0">
                    <a:solidFill>
                      <a:srgbClr val="FFFFFF"/>
                    </a:solidFill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27" name="Text 15">
                <a:extLst>
                  <a:ext uri="{FF2B5EF4-FFF2-40B4-BE49-F238E27FC236}">
                    <a16:creationId xmlns:a16="http://schemas.microsoft.com/office/drawing/2014/main" id="{226D2EEA-7120-B97B-11AC-564C55C4AF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2523744"/>
                <a:ext cx="2651760" cy="7772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22">
                <a:extLst>
                  <a:ext uri="{FF2B5EF4-FFF2-40B4-BE49-F238E27FC236}">
                    <a16:creationId xmlns:a16="http://schemas.microsoft.com/office/drawing/2014/main" id="{01B3EADA-1046-79DB-51A6-AD099A083B8C}"/>
                  </a:ext>
                </a:extLst>
              </p:cNvPr>
              <p:cNvSpPr/>
              <p:nvPr/>
            </p:nvSpPr>
            <p:spPr>
              <a:xfrm>
                <a:off x="5943600" y="3785616"/>
                <a:ext cx="26517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</a:rPr>
                  <a:t>Solución: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4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9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1</m:t>
                        </m:r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6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9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1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64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81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1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dirty="0">
                            <a:solidFill>
                              <a:srgbClr val="FFFFFF"/>
                            </a:solidFill>
                          </a:rPr>
                        </m:ctrlPr>
                      </m:fPr>
                      <m:num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337</m:t>
                        </m:r>
                      </m:num>
                      <m:den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3</m:t>
                        </m:r>
                        <m:r>
                          <a:rPr lang="es-ES" sz="1600" b="1" dirty="0">
                            <a:solidFill>
                              <a:srgbClr val="FFFFFF"/>
                            </a:solidFill>
                          </a:rPr>
                          <m:t>24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8" name="Text 22">
                <a:extLst>
                  <a:ext uri="{FF2B5EF4-FFF2-40B4-BE49-F238E27FC236}">
                    <a16:creationId xmlns:a16="http://schemas.microsoft.com/office/drawing/2014/main" id="{01B3EADA-1046-79DB-51A6-AD099A083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785616"/>
                <a:ext cx="2651760" cy="7772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9066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2013</Words>
  <Application>Microsoft Office PowerPoint</Application>
  <PresentationFormat>Presentación en pantalla (16:9)</PresentationFormat>
  <Paragraphs>441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Arial Black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Números Racionales · 3º ESO · Aprende Mates</dc:title>
  <dc:subject>PptxGenJS Presentation</dc:subject>
  <dc:creator>Aprende Mates</dc:creator>
  <cp:lastModifiedBy>David Gil de Gomez</cp:lastModifiedBy>
  <cp:revision>62</cp:revision>
  <dcterms:created xsi:type="dcterms:W3CDTF">2026-05-24T13:49:26Z</dcterms:created>
  <dcterms:modified xsi:type="dcterms:W3CDTF">2026-05-25T21:05:37Z</dcterms:modified>
</cp:coreProperties>
</file>